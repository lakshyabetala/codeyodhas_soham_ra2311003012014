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13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2410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txBody>
          <a:bodyPr/>
          <a:lstStyle/>
          <a:p>
            <a:endParaRPr lang="en-IN"/>
          </a:p>
        </p:txBody>
      </p:sp>
      <p:sp>
        <p:nvSpPr>
          <p:cNvPr id="3" name="Shape 1"/>
          <p:cNvSpPr/>
          <p:nvPr/>
        </p:nvSpPr>
        <p:spPr>
          <a:xfrm>
            <a:off x="1" y="0"/>
            <a:ext cx="14630400" cy="8229600"/>
          </a:xfrm>
          <a:prstGeom prst="rect">
            <a:avLst/>
          </a:prstGeom>
          <a:solidFill>
            <a:srgbClr val="292C32"/>
          </a:solidFill>
          <a:ln/>
        </p:spPr>
        <p:txBody>
          <a:bodyPr/>
          <a:lstStyle/>
          <a:p>
            <a:endParaRPr lang="en-IN"/>
          </a:p>
        </p:txBody>
      </p:sp>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5" name="Text 2"/>
          <p:cNvSpPr/>
          <p:nvPr/>
        </p:nvSpPr>
        <p:spPr>
          <a:xfrm>
            <a:off x="793790" y="2660213"/>
            <a:ext cx="7556421" cy="1956435"/>
          </a:xfrm>
          <a:prstGeom prst="rect">
            <a:avLst/>
          </a:prstGeom>
          <a:noFill/>
          <a:ln/>
        </p:spPr>
        <p:txBody>
          <a:bodyPr wrap="square" lIns="0" tIns="0" rIns="0" bIns="0" rtlCol="0" anchor="t"/>
          <a:lstStyle/>
          <a:p>
            <a:pPr marL="0" indent="0">
              <a:lnSpc>
                <a:spcPts val="7700"/>
              </a:lnSpc>
              <a:buNone/>
            </a:pPr>
            <a:r>
              <a:rPr lang="en-US" sz="4800" dirty="0">
                <a:solidFill>
                  <a:srgbClr val="F3F3F2"/>
                </a:solidFill>
                <a:latin typeface="IBM Plex Sans" pitchFamily="34" charset="0"/>
                <a:ea typeface="IBM Plex Sans" pitchFamily="34" charset="-122"/>
                <a:cs typeface="IBM Plex Sans" pitchFamily="34" charset="-120"/>
              </a:rPr>
              <a:t>Camera-Based Nutrients Recognition System</a:t>
            </a:r>
            <a:endParaRPr lang="en-US" sz="4800" dirty="0"/>
          </a:p>
        </p:txBody>
      </p:sp>
      <p:sp>
        <p:nvSpPr>
          <p:cNvPr id="6" name="Text 3"/>
          <p:cNvSpPr/>
          <p:nvPr/>
        </p:nvSpPr>
        <p:spPr>
          <a:xfrm>
            <a:off x="793790" y="5160882"/>
            <a:ext cx="7556421" cy="1088708"/>
          </a:xfrm>
          <a:prstGeom prst="rect">
            <a:avLst/>
          </a:prstGeom>
          <a:noFill/>
          <a:ln/>
        </p:spPr>
        <p:txBody>
          <a:bodyPr wrap="square" lIns="0" tIns="0" rIns="0" bIns="0" rtlCol="0" anchor="t"/>
          <a:lstStyle/>
          <a:p>
            <a:pPr marL="0" indent="0">
              <a:lnSpc>
                <a:spcPts val="2850"/>
              </a:lnSpc>
              <a:buNone/>
            </a:pPr>
            <a:r>
              <a:rPr lang="en-US" sz="1750" dirty="0">
                <a:solidFill>
                  <a:srgbClr val="D4D4D1"/>
                </a:solidFill>
                <a:latin typeface="Roboto" pitchFamily="34" charset="0"/>
                <a:ea typeface="Roboto" pitchFamily="34" charset="-122"/>
                <a:cs typeface="Roboto" pitchFamily="34" charset="-120"/>
              </a:rPr>
              <a:t>This system leverages computer vision and machine learning to identify and categorize food items from images captured by a camera, enabling personalized nutrition tracking and dietary recommendations.</a:t>
            </a:r>
            <a:endParaRPr lang="en-US" sz="1750" dirty="0"/>
          </a:p>
        </p:txBody>
      </p:sp>
      <p:sp>
        <p:nvSpPr>
          <p:cNvPr id="8" name="Rectangle 7">
            <a:extLst>
              <a:ext uri="{FF2B5EF4-FFF2-40B4-BE49-F238E27FC236}">
                <a16:creationId xmlns:a16="http://schemas.microsoft.com/office/drawing/2014/main" id="{66CB2501-2F76-CD7C-23D3-049BBEFE5B08}"/>
              </a:ext>
            </a:extLst>
          </p:cNvPr>
          <p:cNvSpPr/>
          <p:nvPr/>
        </p:nvSpPr>
        <p:spPr>
          <a:xfrm>
            <a:off x="3733798" y="424160"/>
            <a:ext cx="4995277" cy="1200329"/>
          </a:xfrm>
          <a:prstGeom prst="rect">
            <a:avLst/>
          </a:prstGeom>
          <a:noFill/>
        </p:spPr>
        <p:txBody>
          <a:bodyPr wrap="none" lIns="91440" tIns="45720" rIns="91440" bIns="45720">
            <a:spAutoFit/>
          </a:bodyPr>
          <a:lstStyle/>
          <a:p>
            <a:pPr algn="ctr"/>
            <a:r>
              <a:rPr lang="en-US" sz="7200" b="1" dirty="0">
                <a:ln w="22225">
                  <a:solidFill>
                    <a:schemeClr val="accent2"/>
                  </a:solidFill>
                  <a:prstDash val="solid"/>
                </a:ln>
                <a:solidFill>
                  <a:schemeClr val="accent2">
                    <a:lumMod val="40000"/>
                    <a:lumOff val="60000"/>
                  </a:schemeClr>
                </a:solidFill>
              </a:rPr>
              <a:t>NUTRI-SNAP</a:t>
            </a:r>
          </a:p>
        </p:txBody>
      </p:sp>
      <p:sp>
        <p:nvSpPr>
          <p:cNvPr id="11" name="Rectangle 10">
            <a:extLst>
              <a:ext uri="{FF2B5EF4-FFF2-40B4-BE49-F238E27FC236}">
                <a16:creationId xmlns:a16="http://schemas.microsoft.com/office/drawing/2014/main" id="{64B9380A-0B34-88DF-5ADF-FE97E0AAC1A7}"/>
              </a:ext>
            </a:extLst>
          </p:cNvPr>
          <p:cNvSpPr/>
          <p:nvPr/>
        </p:nvSpPr>
        <p:spPr>
          <a:xfrm>
            <a:off x="4414883" y="1564749"/>
            <a:ext cx="3163302" cy="1200329"/>
          </a:xfrm>
          <a:prstGeom prst="rect">
            <a:avLst/>
          </a:prstGeom>
          <a:noFill/>
        </p:spPr>
        <p:txBody>
          <a:bodyPr wrap="none" lIns="91440" tIns="45720" rIns="91440" bIns="45720">
            <a:spAutoFit/>
          </a:bodyPr>
          <a:lstStyle/>
          <a:p>
            <a:pPr algn="ctr"/>
            <a:r>
              <a:rPr lang="en-US" b="1" cap="none" spc="0" dirty="0">
                <a:ln w="22225">
                  <a:solidFill>
                    <a:schemeClr val="accent2"/>
                  </a:solidFill>
                  <a:prstDash val="solid"/>
                </a:ln>
                <a:solidFill>
                  <a:schemeClr val="accent4">
                    <a:lumMod val="50000"/>
                  </a:schemeClr>
                </a:solidFill>
                <a:effectLst>
                  <a:outerShdw blurRad="38100" dist="25400" dir="5400000" algn="ctr" rotWithShape="0">
                    <a:srgbClr val="6E747A">
                      <a:alpha val="43000"/>
                    </a:srgbClr>
                  </a:outerShdw>
                </a:effectLst>
              </a:rPr>
              <a:t>SNAP TO KNOW, EAT TO GROW</a:t>
            </a:r>
            <a:endParaRPr lang="en-US" b="0" cap="none" spc="0" dirty="0">
              <a:ln w="0"/>
              <a:solidFill>
                <a:schemeClr val="accent4">
                  <a:lumMod val="50000"/>
                </a:schemeClr>
              </a:solidFill>
              <a:effectLst>
                <a:outerShdw blurRad="38100" dist="25400" dir="5400000" algn="ctr" rotWithShape="0">
                  <a:srgbClr val="6E747A">
                    <a:alpha val="43000"/>
                  </a:srgbClr>
                </a:outerShdw>
              </a:effectLst>
            </a:endParaRPr>
          </a:p>
          <a:p>
            <a:pPr algn="ctr"/>
            <a:endParaRPr lang="en-US" sz="5400" b="1" cap="none" spc="0" dirty="0">
              <a:ln w="12700" cmpd="sng">
                <a:solidFill>
                  <a:schemeClr val="accent4"/>
                </a:solidFill>
                <a:prstDash val="solid"/>
              </a:ln>
              <a:solidFill>
                <a:srgbClr val="00B0F0"/>
              </a:solidFill>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txBody>
          <a:bodyPr/>
          <a:lstStyle/>
          <a:p>
            <a:endParaRPr lang="en-IN"/>
          </a:p>
        </p:txBody>
      </p:sp>
      <p:sp>
        <p:nvSpPr>
          <p:cNvPr id="3" name="Shape 1"/>
          <p:cNvSpPr/>
          <p:nvPr/>
        </p:nvSpPr>
        <p:spPr>
          <a:xfrm>
            <a:off x="0" y="0"/>
            <a:ext cx="14630400" cy="8229600"/>
          </a:xfrm>
          <a:prstGeom prst="rect">
            <a:avLst/>
          </a:prstGeom>
          <a:solidFill>
            <a:srgbClr val="292C32"/>
          </a:solidFill>
          <a:ln/>
        </p:spPr>
        <p:txBody>
          <a:bodyPr/>
          <a:lstStyle/>
          <a:p>
            <a:endParaRPr lang="en-IN"/>
          </a:p>
        </p:txBody>
      </p:sp>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5" name="Image 1" descr="preencoded.png"/>
          <p:cNvPicPr>
            <a:picLocks noChangeAspect="1"/>
          </p:cNvPicPr>
          <p:nvPr/>
        </p:nvPicPr>
        <p:blipFill>
          <a:blip r:embed="rId4"/>
          <a:stretch>
            <a:fillRect/>
          </a:stretch>
        </p:blipFill>
        <p:spPr>
          <a:xfrm>
            <a:off x="9427488" y="952262"/>
            <a:ext cx="4919305" cy="6324957"/>
          </a:xfrm>
          <a:prstGeom prst="rect">
            <a:avLst/>
          </a:prstGeom>
        </p:spPr>
      </p:pic>
      <p:sp>
        <p:nvSpPr>
          <p:cNvPr id="6" name="Text 2"/>
          <p:cNvSpPr/>
          <p:nvPr/>
        </p:nvSpPr>
        <p:spPr>
          <a:xfrm>
            <a:off x="793790" y="970717"/>
            <a:ext cx="5670590" cy="708779"/>
          </a:xfrm>
          <a:prstGeom prst="rect">
            <a:avLst/>
          </a:prstGeom>
          <a:noFill/>
          <a:ln/>
        </p:spPr>
        <p:txBody>
          <a:bodyPr wrap="none" lIns="0" tIns="0" rIns="0" bIns="0" rtlCol="0" anchor="t"/>
          <a:lstStyle/>
          <a:p>
            <a:pPr marL="0" indent="0">
              <a:lnSpc>
                <a:spcPts val="5550"/>
              </a:lnSpc>
              <a:buNone/>
            </a:pPr>
            <a:r>
              <a:rPr lang="en-US" sz="4450" dirty="0">
                <a:solidFill>
                  <a:srgbClr val="F3F3F2"/>
                </a:solidFill>
                <a:latin typeface="IBM Plex Sans" pitchFamily="34" charset="0"/>
                <a:ea typeface="IBM Plex Sans" pitchFamily="34" charset="-122"/>
                <a:cs typeface="IBM Plex Sans" pitchFamily="34" charset="-120"/>
              </a:rPr>
              <a:t>Problem Statement</a:t>
            </a:r>
            <a:endParaRPr lang="en-US" sz="4450" dirty="0"/>
          </a:p>
        </p:txBody>
      </p:sp>
      <p:sp>
        <p:nvSpPr>
          <p:cNvPr id="7" name="Text 3"/>
          <p:cNvSpPr/>
          <p:nvPr/>
        </p:nvSpPr>
        <p:spPr>
          <a:xfrm>
            <a:off x="793790" y="2019657"/>
            <a:ext cx="7556421" cy="1088708"/>
          </a:xfrm>
          <a:prstGeom prst="rect">
            <a:avLst/>
          </a:prstGeom>
          <a:noFill/>
          <a:ln/>
        </p:spPr>
        <p:txBody>
          <a:bodyPr wrap="square" lIns="0" tIns="0" rIns="0" bIns="0" rtlCol="0" anchor="t"/>
          <a:lstStyle/>
          <a:p>
            <a:pPr marL="0" indent="0">
              <a:lnSpc>
                <a:spcPts val="2850"/>
              </a:lnSpc>
              <a:buNone/>
            </a:pPr>
            <a:r>
              <a:rPr lang="en-US" sz="1750" dirty="0">
                <a:solidFill>
                  <a:srgbClr val="D4D4D1"/>
                </a:solidFill>
                <a:latin typeface="Roboto" pitchFamily="34" charset="0"/>
                <a:ea typeface="Roboto" pitchFamily="34" charset="-122"/>
                <a:cs typeface="Roboto" pitchFamily="34" charset="-120"/>
              </a:rPr>
              <a:t>Current methods for food tracking often require manual input, which can be time-consuming and prone to errors. This system offers a convenient and accurate solution for real-time nutrition analysis.</a:t>
            </a:r>
            <a:endParaRPr lang="en-US" sz="1750" dirty="0"/>
          </a:p>
        </p:txBody>
      </p:sp>
      <p:sp>
        <p:nvSpPr>
          <p:cNvPr id="8" name="Shape 4"/>
          <p:cNvSpPr/>
          <p:nvPr/>
        </p:nvSpPr>
        <p:spPr>
          <a:xfrm>
            <a:off x="793790" y="3618667"/>
            <a:ext cx="510302" cy="510302"/>
          </a:xfrm>
          <a:prstGeom prst="roundRect">
            <a:avLst>
              <a:gd name="adj" fmla="val 6667"/>
            </a:avLst>
          </a:prstGeom>
          <a:solidFill>
            <a:srgbClr val="484B51"/>
          </a:solidFill>
          <a:ln/>
        </p:spPr>
        <p:txBody>
          <a:bodyPr/>
          <a:lstStyle/>
          <a:p>
            <a:endParaRPr lang="en-IN"/>
          </a:p>
        </p:txBody>
      </p:sp>
      <p:sp>
        <p:nvSpPr>
          <p:cNvPr id="9" name="Text 5"/>
          <p:cNvSpPr/>
          <p:nvPr/>
        </p:nvSpPr>
        <p:spPr>
          <a:xfrm>
            <a:off x="946785" y="3703677"/>
            <a:ext cx="204192" cy="340281"/>
          </a:xfrm>
          <a:prstGeom prst="rect">
            <a:avLst/>
          </a:prstGeom>
          <a:noFill/>
          <a:ln/>
        </p:spPr>
        <p:txBody>
          <a:bodyPr wrap="none" lIns="0" tIns="0" rIns="0" bIns="0" rtlCol="0" anchor="t"/>
          <a:lstStyle/>
          <a:p>
            <a:pPr marL="0" indent="0" algn="ctr">
              <a:lnSpc>
                <a:spcPts val="2650"/>
              </a:lnSpc>
              <a:buNone/>
            </a:pPr>
            <a:r>
              <a:rPr lang="en-US" sz="2650" dirty="0">
                <a:solidFill>
                  <a:srgbClr val="D4D4D1"/>
                </a:solidFill>
                <a:latin typeface="IBM Plex Sans" pitchFamily="34" charset="0"/>
                <a:ea typeface="IBM Plex Sans" pitchFamily="34" charset="-122"/>
                <a:cs typeface="IBM Plex Sans" pitchFamily="34" charset="-120"/>
              </a:rPr>
              <a:t>1</a:t>
            </a:r>
            <a:endParaRPr lang="en-US" sz="2650" dirty="0"/>
          </a:p>
        </p:txBody>
      </p:sp>
      <p:sp>
        <p:nvSpPr>
          <p:cNvPr id="10" name="Text 6"/>
          <p:cNvSpPr/>
          <p:nvPr/>
        </p:nvSpPr>
        <p:spPr>
          <a:xfrm>
            <a:off x="1530906" y="3618667"/>
            <a:ext cx="2835235" cy="354330"/>
          </a:xfrm>
          <a:prstGeom prst="rect">
            <a:avLst/>
          </a:prstGeom>
          <a:noFill/>
          <a:ln/>
        </p:spPr>
        <p:txBody>
          <a:bodyPr wrap="none" lIns="0" tIns="0" rIns="0" bIns="0" rtlCol="0" anchor="t"/>
          <a:lstStyle/>
          <a:p>
            <a:pPr marL="0" indent="0">
              <a:lnSpc>
                <a:spcPts val="2750"/>
              </a:lnSpc>
              <a:buNone/>
            </a:pPr>
            <a:r>
              <a:rPr lang="en-US" sz="2200" dirty="0">
                <a:solidFill>
                  <a:srgbClr val="D4D4D1"/>
                </a:solidFill>
                <a:latin typeface="IBM Plex Sans" pitchFamily="34" charset="0"/>
                <a:ea typeface="IBM Plex Sans" pitchFamily="34" charset="-122"/>
                <a:cs typeface="IBM Plex Sans" pitchFamily="34" charset="-120"/>
              </a:rPr>
              <a:t>Time-Consuming</a:t>
            </a:r>
            <a:endParaRPr lang="en-US" sz="2200" dirty="0"/>
          </a:p>
        </p:txBody>
      </p:sp>
      <p:sp>
        <p:nvSpPr>
          <p:cNvPr id="11" name="Text 7"/>
          <p:cNvSpPr/>
          <p:nvPr/>
        </p:nvSpPr>
        <p:spPr>
          <a:xfrm>
            <a:off x="1530906" y="4109085"/>
            <a:ext cx="2927747" cy="1088708"/>
          </a:xfrm>
          <a:prstGeom prst="rect">
            <a:avLst/>
          </a:prstGeom>
          <a:noFill/>
          <a:ln/>
        </p:spPr>
        <p:txBody>
          <a:bodyPr wrap="square" lIns="0" tIns="0" rIns="0" bIns="0" rtlCol="0" anchor="t"/>
          <a:lstStyle/>
          <a:p>
            <a:pPr marL="0" indent="0">
              <a:lnSpc>
                <a:spcPts val="2850"/>
              </a:lnSpc>
              <a:buNone/>
            </a:pPr>
            <a:r>
              <a:rPr lang="en-US" sz="1750" dirty="0">
                <a:solidFill>
                  <a:srgbClr val="D4D4D1"/>
                </a:solidFill>
                <a:latin typeface="Roboto" pitchFamily="34" charset="0"/>
                <a:ea typeface="Roboto" pitchFamily="34" charset="-122"/>
                <a:cs typeface="Roboto" pitchFamily="34" charset="-120"/>
              </a:rPr>
              <a:t>Manually tracking food intake can be tedious and require significant effort.</a:t>
            </a:r>
            <a:endParaRPr lang="en-US" sz="1750" dirty="0"/>
          </a:p>
        </p:txBody>
      </p:sp>
      <p:sp>
        <p:nvSpPr>
          <p:cNvPr id="12" name="Shape 8"/>
          <p:cNvSpPr/>
          <p:nvPr/>
        </p:nvSpPr>
        <p:spPr>
          <a:xfrm>
            <a:off x="4685467" y="3618667"/>
            <a:ext cx="510302" cy="510302"/>
          </a:xfrm>
          <a:prstGeom prst="roundRect">
            <a:avLst>
              <a:gd name="adj" fmla="val 6667"/>
            </a:avLst>
          </a:prstGeom>
          <a:solidFill>
            <a:srgbClr val="484B51"/>
          </a:solidFill>
          <a:ln/>
        </p:spPr>
        <p:txBody>
          <a:bodyPr/>
          <a:lstStyle/>
          <a:p>
            <a:endParaRPr lang="en-IN"/>
          </a:p>
        </p:txBody>
      </p:sp>
      <p:sp>
        <p:nvSpPr>
          <p:cNvPr id="13" name="Text 9"/>
          <p:cNvSpPr/>
          <p:nvPr/>
        </p:nvSpPr>
        <p:spPr>
          <a:xfrm>
            <a:off x="4838462" y="3703677"/>
            <a:ext cx="204192" cy="340281"/>
          </a:xfrm>
          <a:prstGeom prst="rect">
            <a:avLst/>
          </a:prstGeom>
          <a:noFill/>
          <a:ln/>
        </p:spPr>
        <p:txBody>
          <a:bodyPr wrap="none" lIns="0" tIns="0" rIns="0" bIns="0" rtlCol="0" anchor="t"/>
          <a:lstStyle/>
          <a:p>
            <a:pPr marL="0" indent="0" algn="ctr">
              <a:lnSpc>
                <a:spcPts val="2650"/>
              </a:lnSpc>
              <a:buNone/>
            </a:pPr>
            <a:r>
              <a:rPr lang="en-US" sz="2650" dirty="0">
                <a:solidFill>
                  <a:srgbClr val="D4D4D1"/>
                </a:solidFill>
                <a:latin typeface="IBM Plex Sans" pitchFamily="34" charset="0"/>
                <a:ea typeface="IBM Plex Sans" pitchFamily="34" charset="-122"/>
                <a:cs typeface="IBM Plex Sans" pitchFamily="34" charset="-120"/>
              </a:rPr>
              <a:t>2</a:t>
            </a:r>
            <a:endParaRPr lang="en-US" sz="2650" dirty="0"/>
          </a:p>
        </p:txBody>
      </p:sp>
      <p:sp>
        <p:nvSpPr>
          <p:cNvPr id="14" name="Text 10"/>
          <p:cNvSpPr/>
          <p:nvPr/>
        </p:nvSpPr>
        <p:spPr>
          <a:xfrm>
            <a:off x="5422583" y="3618667"/>
            <a:ext cx="2835235" cy="354330"/>
          </a:xfrm>
          <a:prstGeom prst="rect">
            <a:avLst/>
          </a:prstGeom>
          <a:noFill/>
          <a:ln/>
        </p:spPr>
        <p:txBody>
          <a:bodyPr wrap="none" lIns="0" tIns="0" rIns="0" bIns="0" rtlCol="0" anchor="t"/>
          <a:lstStyle/>
          <a:p>
            <a:pPr marL="0" indent="0">
              <a:lnSpc>
                <a:spcPts val="2750"/>
              </a:lnSpc>
              <a:buNone/>
            </a:pPr>
            <a:r>
              <a:rPr lang="en-US" sz="2200" dirty="0">
                <a:solidFill>
                  <a:srgbClr val="D4D4D1"/>
                </a:solidFill>
                <a:latin typeface="IBM Plex Sans" pitchFamily="34" charset="0"/>
                <a:ea typeface="IBM Plex Sans" pitchFamily="34" charset="-122"/>
                <a:cs typeface="IBM Plex Sans" pitchFamily="34" charset="-120"/>
              </a:rPr>
              <a:t>Error-Prone</a:t>
            </a:r>
            <a:endParaRPr lang="en-US" sz="2200" dirty="0"/>
          </a:p>
        </p:txBody>
      </p:sp>
      <p:sp>
        <p:nvSpPr>
          <p:cNvPr id="15" name="Text 11"/>
          <p:cNvSpPr/>
          <p:nvPr/>
        </p:nvSpPr>
        <p:spPr>
          <a:xfrm>
            <a:off x="5422583" y="4109085"/>
            <a:ext cx="2927747" cy="1451610"/>
          </a:xfrm>
          <a:prstGeom prst="rect">
            <a:avLst/>
          </a:prstGeom>
          <a:noFill/>
          <a:ln/>
        </p:spPr>
        <p:txBody>
          <a:bodyPr wrap="square" lIns="0" tIns="0" rIns="0" bIns="0" rtlCol="0" anchor="t"/>
          <a:lstStyle/>
          <a:p>
            <a:pPr marL="0" indent="0">
              <a:lnSpc>
                <a:spcPts val="2850"/>
              </a:lnSpc>
              <a:buNone/>
            </a:pPr>
            <a:r>
              <a:rPr lang="en-US" sz="1750" dirty="0">
                <a:solidFill>
                  <a:srgbClr val="D4D4D1"/>
                </a:solidFill>
                <a:latin typeface="Roboto" pitchFamily="34" charset="0"/>
                <a:ea typeface="Roboto" pitchFamily="34" charset="-122"/>
                <a:cs typeface="Roboto" pitchFamily="34" charset="-120"/>
              </a:rPr>
              <a:t>Manual logging often leads to inaccurate estimations of portion sizes and nutrient content.</a:t>
            </a:r>
            <a:endParaRPr lang="en-US" sz="1750" dirty="0"/>
          </a:p>
        </p:txBody>
      </p:sp>
      <p:sp>
        <p:nvSpPr>
          <p:cNvPr id="16" name="Shape 12"/>
          <p:cNvSpPr/>
          <p:nvPr/>
        </p:nvSpPr>
        <p:spPr>
          <a:xfrm>
            <a:off x="793790" y="6042660"/>
            <a:ext cx="510302" cy="510302"/>
          </a:xfrm>
          <a:prstGeom prst="roundRect">
            <a:avLst>
              <a:gd name="adj" fmla="val 6667"/>
            </a:avLst>
          </a:prstGeom>
          <a:solidFill>
            <a:srgbClr val="484B51"/>
          </a:solidFill>
          <a:ln/>
        </p:spPr>
        <p:txBody>
          <a:bodyPr/>
          <a:lstStyle/>
          <a:p>
            <a:endParaRPr lang="en-IN"/>
          </a:p>
        </p:txBody>
      </p:sp>
      <p:sp>
        <p:nvSpPr>
          <p:cNvPr id="17" name="Text 13"/>
          <p:cNvSpPr/>
          <p:nvPr/>
        </p:nvSpPr>
        <p:spPr>
          <a:xfrm>
            <a:off x="946785" y="6127671"/>
            <a:ext cx="204192" cy="340281"/>
          </a:xfrm>
          <a:prstGeom prst="rect">
            <a:avLst/>
          </a:prstGeom>
          <a:noFill/>
          <a:ln/>
        </p:spPr>
        <p:txBody>
          <a:bodyPr wrap="none" lIns="0" tIns="0" rIns="0" bIns="0" rtlCol="0" anchor="t"/>
          <a:lstStyle/>
          <a:p>
            <a:pPr marL="0" indent="0" algn="ctr">
              <a:lnSpc>
                <a:spcPts val="2650"/>
              </a:lnSpc>
              <a:buNone/>
            </a:pPr>
            <a:r>
              <a:rPr lang="en-US" sz="2650" dirty="0">
                <a:solidFill>
                  <a:srgbClr val="D4D4D1"/>
                </a:solidFill>
                <a:latin typeface="IBM Plex Sans" pitchFamily="34" charset="0"/>
                <a:ea typeface="IBM Plex Sans" pitchFamily="34" charset="-122"/>
                <a:cs typeface="IBM Plex Sans" pitchFamily="34" charset="-120"/>
              </a:rPr>
              <a:t>3</a:t>
            </a:r>
            <a:endParaRPr lang="en-US" sz="2650" dirty="0"/>
          </a:p>
        </p:txBody>
      </p:sp>
      <p:sp>
        <p:nvSpPr>
          <p:cNvPr id="18" name="Text 14"/>
          <p:cNvSpPr/>
          <p:nvPr/>
        </p:nvSpPr>
        <p:spPr>
          <a:xfrm>
            <a:off x="1530906" y="6042660"/>
            <a:ext cx="3032641" cy="354330"/>
          </a:xfrm>
          <a:prstGeom prst="rect">
            <a:avLst/>
          </a:prstGeom>
          <a:noFill/>
          <a:ln/>
        </p:spPr>
        <p:txBody>
          <a:bodyPr wrap="none" lIns="0" tIns="0" rIns="0" bIns="0" rtlCol="0" anchor="t"/>
          <a:lstStyle/>
          <a:p>
            <a:pPr marL="0" indent="0">
              <a:lnSpc>
                <a:spcPts val="2750"/>
              </a:lnSpc>
              <a:buNone/>
            </a:pPr>
            <a:r>
              <a:rPr lang="en-US" sz="2200" dirty="0">
                <a:solidFill>
                  <a:srgbClr val="D4D4D1"/>
                </a:solidFill>
                <a:latin typeface="IBM Plex Sans" pitchFamily="34" charset="0"/>
                <a:ea typeface="IBM Plex Sans" pitchFamily="34" charset="-122"/>
                <a:cs typeface="IBM Plex Sans" pitchFamily="34" charset="-120"/>
              </a:rPr>
              <a:t>Limited Real-Time Data</a:t>
            </a:r>
            <a:endParaRPr lang="en-US" sz="2200" dirty="0"/>
          </a:p>
        </p:txBody>
      </p:sp>
      <p:sp>
        <p:nvSpPr>
          <p:cNvPr id="19" name="Text 15"/>
          <p:cNvSpPr/>
          <p:nvPr/>
        </p:nvSpPr>
        <p:spPr>
          <a:xfrm>
            <a:off x="1530906" y="6533078"/>
            <a:ext cx="6819305" cy="725805"/>
          </a:xfrm>
          <a:prstGeom prst="rect">
            <a:avLst/>
          </a:prstGeom>
          <a:noFill/>
          <a:ln/>
        </p:spPr>
        <p:txBody>
          <a:bodyPr wrap="square" lIns="0" tIns="0" rIns="0" bIns="0" rtlCol="0" anchor="t"/>
          <a:lstStyle/>
          <a:p>
            <a:pPr marL="0" indent="0">
              <a:lnSpc>
                <a:spcPts val="2850"/>
              </a:lnSpc>
              <a:buNone/>
            </a:pPr>
            <a:r>
              <a:rPr lang="en-US" sz="1750" dirty="0">
                <a:solidFill>
                  <a:srgbClr val="D4D4D1"/>
                </a:solidFill>
                <a:latin typeface="Roboto" pitchFamily="34" charset="0"/>
                <a:ea typeface="Roboto" pitchFamily="34" charset="-122"/>
                <a:cs typeface="Roboto" pitchFamily="34" charset="-120"/>
              </a:rPr>
              <a:t>Traditional methods lack real-time feedback and insights into dietary choices.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txBody>
          <a:bodyPr/>
          <a:lstStyle/>
          <a:p>
            <a:endParaRPr lang="en-IN"/>
          </a:p>
        </p:txBody>
      </p:sp>
      <p:sp>
        <p:nvSpPr>
          <p:cNvPr id="3" name="Shape 1"/>
          <p:cNvSpPr/>
          <p:nvPr/>
        </p:nvSpPr>
        <p:spPr>
          <a:xfrm>
            <a:off x="0" y="0"/>
            <a:ext cx="14630400" cy="8230076"/>
          </a:xfrm>
          <a:prstGeom prst="rect">
            <a:avLst/>
          </a:prstGeom>
          <a:solidFill>
            <a:srgbClr val="292C32"/>
          </a:solidFill>
          <a:ln/>
        </p:spPr>
        <p:txBody>
          <a:bodyPr/>
          <a:lstStyle/>
          <a:p>
            <a:endParaRPr lang="en-IN"/>
          </a:p>
        </p:txBody>
      </p:sp>
      <p:sp>
        <p:nvSpPr>
          <p:cNvPr id="4" name="Text 2"/>
          <p:cNvSpPr/>
          <p:nvPr/>
        </p:nvSpPr>
        <p:spPr>
          <a:xfrm>
            <a:off x="2879527" y="368856"/>
            <a:ext cx="3789759" cy="419219"/>
          </a:xfrm>
          <a:prstGeom prst="rect">
            <a:avLst/>
          </a:prstGeom>
          <a:noFill/>
          <a:ln/>
        </p:spPr>
        <p:txBody>
          <a:bodyPr wrap="none" lIns="0" tIns="0" rIns="0" bIns="0" rtlCol="0" anchor="t"/>
          <a:lstStyle/>
          <a:p>
            <a:pPr marL="0" indent="0">
              <a:lnSpc>
                <a:spcPts val="3300"/>
              </a:lnSpc>
              <a:buNone/>
            </a:pPr>
            <a:r>
              <a:rPr lang="en-US" sz="2600" dirty="0">
                <a:solidFill>
                  <a:srgbClr val="F3F3F2"/>
                </a:solidFill>
                <a:latin typeface="IBM Plex Sans" pitchFamily="34" charset="0"/>
                <a:ea typeface="IBM Plex Sans" pitchFamily="34" charset="-122"/>
                <a:cs typeface="IBM Plex Sans" pitchFamily="34" charset="-120"/>
              </a:rPr>
              <a:t>Flowchart of the Process</a:t>
            </a:r>
            <a:endParaRPr lang="en-US" sz="2600" dirty="0"/>
          </a:p>
        </p:txBody>
      </p:sp>
      <p:sp>
        <p:nvSpPr>
          <p:cNvPr id="5" name="Text 3"/>
          <p:cNvSpPr/>
          <p:nvPr/>
        </p:nvSpPr>
        <p:spPr>
          <a:xfrm>
            <a:off x="2879527" y="1056323"/>
            <a:ext cx="8871228" cy="214670"/>
          </a:xfrm>
          <a:prstGeom prst="rect">
            <a:avLst/>
          </a:prstGeom>
          <a:noFill/>
          <a:ln/>
        </p:spPr>
        <p:txBody>
          <a:bodyPr wrap="none" lIns="0" tIns="0" rIns="0" bIns="0" rtlCol="0" anchor="t"/>
          <a:lstStyle/>
          <a:p>
            <a:pPr marL="0" indent="0">
              <a:lnSpc>
                <a:spcPts val="1650"/>
              </a:lnSpc>
              <a:buNone/>
            </a:pPr>
            <a:r>
              <a:rPr lang="en-US" sz="1050" dirty="0">
                <a:solidFill>
                  <a:srgbClr val="D4D4D1"/>
                </a:solidFill>
                <a:latin typeface="Roboto" pitchFamily="34" charset="0"/>
                <a:ea typeface="Roboto" pitchFamily="34" charset="-122"/>
                <a:cs typeface="Roboto" pitchFamily="34" charset="-120"/>
              </a:rPr>
              <a:t>The system utilizes a series of steps to process food images and provide personalized nutrition information.</a:t>
            </a:r>
            <a:endParaRPr lang="en-US" sz="1050" dirty="0"/>
          </a:p>
        </p:txBody>
      </p:sp>
      <p:pic>
        <p:nvPicPr>
          <p:cNvPr id="6" name="Image 0" descr="preencoded.png"/>
          <p:cNvPicPr>
            <a:picLocks noChangeAspect="1"/>
          </p:cNvPicPr>
          <p:nvPr/>
        </p:nvPicPr>
        <p:blipFill>
          <a:blip r:embed="rId3"/>
          <a:stretch>
            <a:fillRect/>
          </a:stretch>
        </p:blipFill>
        <p:spPr>
          <a:xfrm>
            <a:off x="2879527" y="1421844"/>
            <a:ext cx="670679" cy="1073229"/>
          </a:xfrm>
          <a:prstGeom prst="rect">
            <a:avLst/>
          </a:prstGeom>
        </p:spPr>
      </p:pic>
      <p:sp>
        <p:nvSpPr>
          <p:cNvPr id="7" name="Text 4"/>
          <p:cNvSpPr/>
          <p:nvPr/>
        </p:nvSpPr>
        <p:spPr>
          <a:xfrm>
            <a:off x="3751421" y="1555909"/>
            <a:ext cx="1676876" cy="209550"/>
          </a:xfrm>
          <a:prstGeom prst="rect">
            <a:avLst/>
          </a:prstGeom>
          <a:noFill/>
          <a:ln/>
        </p:spPr>
        <p:txBody>
          <a:bodyPr wrap="none" lIns="0" tIns="0" rIns="0" bIns="0" rtlCol="0" anchor="t"/>
          <a:lstStyle/>
          <a:p>
            <a:pPr marL="0" indent="0" algn="l">
              <a:lnSpc>
                <a:spcPts val="1650"/>
              </a:lnSpc>
              <a:buNone/>
            </a:pPr>
            <a:r>
              <a:rPr lang="en-US" sz="1300" dirty="0">
                <a:solidFill>
                  <a:srgbClr val="D4D4D1"/>
                </a:solidFill>
                <a:latin typeface="IBM Plex Sans" pitchFamily="34" charset="0"/>
                <a:ea typeface="IBM Plex Sans" pitchFamily="34" charset="-122"/>
                <a:cs typeface="IBM Plex Sans" pitchFamily="34" charset="-120"/>
              </a:rPr>
              <a:t>Image Capture</a:t>
            </a:r>
            <a:endParaRPr lang="en-US" sz="1300" dirty="0"/>
          </a:p>
        </p:txBody>
      </p:sp>
      <p:sp>
        <p:nvSpPr>
          <p:cNvPr id="8" name="Text 5"/>
          <p:cNvSpPr/>
          <p:nvPr/>
        </p:nvSpPr>
        <p:spPr>
          <a:xfrm>
            <a:off x="3751421" y="1845945"/>
            <a:ext cx="7999333" cy="214670"/>
          </a:xfrm>
          <a:prstGeom prst="rect">
            <a:avLst/>
          </a:prstGeom>
          <a:noFill/>
          <a:ln/>
        </p:spPr>
        <p:txBody>
          <a:bodyPr wrap="none" lIns="0" tIns="0" rIns="0" bIns="0" rtlCol="0" anchor="t"/>
          <a:lstStyle/>
          <a:p>
            <a:pPr marL="0" indent="0" algn="l">
              <a:lnSpc>
                <a:spcPts val="1650"/>
              </a:lnSpc>
              <a:buNone/>
            </a:pPr>
            <a:r>
              <a:rPr lang="en-US" sz="1050" dirty="0">
                <a:solidFill>
                  <a:srgbClr val="D4D4D1"/>
                </a:solidFill>
                <a:latin typeface="Roboto" pitchFamily="34" charset="0"/>
                <a:ea typeface="Roboto" pitchFamily="34" charset="-122"/>
                <a:cs typeface="Roboto" pitchFamily="34" charset="-120"/>
              </a:rPr>
              <a:t>A camera captures an image of the food item.</a:t>
            </a:r>
            <a:endParaRPr lang="en-US" sz="1050" dirty="0"/>
          </a:p>
        </p:txBody>
      </p:sp>
      <p:pic>
        <p:nvPicPr>
          <p:cNvPr id="9" name="Image 1" descr="preencoded.png"/>
          <p:cNvPicPr>
            <a:picLocks noChangeAspect="1"/>
          </p:cNvPicPr>
          <p:nvPr/>
        </p:nvPicPr>
        <p:blipFill>
          <a:blip r:embed="rId4"/>
          <a:stretch>
            <a:fillRect/>
          </a:stretch>
        </p:blipFill>
        <p:spPr>
          <a:xfrm>
            <a:off x="2879527" y="2495074"/>
            <a:ext cx="670679" cy="1073229"/>
          </a:xfrm>
          <a:prstGeom prst="rect">
            <a:avLst/>
          </a:prstGeom>
        </p:spPr>
      </p:pic>
      <p:sp>
        <p:nvSpPr>
          <p:cNvPr id="10" name="Text 6"/>
          <p:cNvSpPr/>
          <p:nvPr/>
        </p:nvSpPr>
        <p:spPr>
          <a:xfrm>
            <a:off x="3751421" y="2629138"/>
            <a:ext cx="1676876" cy="209550"/>
          </a:xfrm>
          <a:prstGeom prst="rect">
            <a:avLst/>
          </a:prstGeom>
          <a:noFill/>
          <a:ln/>
        </p:spPr>
        <p:txBody>
          <a:bodyPr wrap="none" lIns="0" tIns="0" rIns="0" bIns="0" rtlCol="0" anchor="t"/>
          <a:lstStyle/>
          <a:p>
            <a:pPr marL="0" indent="0" algn="l">
              <a:lnSpc>
                <a:spcPts val="1650"/>
              </a:lnSpc>
              <a:buNone/>
            </a:pPr>
            <a:r>
              <a:rPr lang="en-US" sz="1300" dirty="0">
                <a:solidFill>
                  <a:srgbClr val="D4D4D1"/>
                </a:solidFill>
                <a:latin typeface="IBM Plex Sans" pitchFamily="34" charset="0"/>
                <a:ea typeface="IBM Plex Sans" pitchFamily="34" charset="-122"/>
                <a:cs typeface="IBM Plex Sans" pitchFamily="34" charset="-120"/>
              </a:rPr>
              <a:t>Image Preprocessing</a:t>
            </a:r>
            <a:endParaRPr lang="en-US" sz="1300" dirty="0"/>
          </a:p>
        </p:txBody>
      </p:sp>
      <p:sp>
        <p:nvSpPr>
          <p:cNvPr id="11" name="Text 7"/>
          <p:cNvSpPr/>
          <p:nvPr/>
        </p:nvSpPr>
        <p:spPr>
          <a:xfrm>
            <a:off x="3751421" y="2919174"/>
            <a:ext cx="7999333" cy="214670"/>
          </a:xfrm>
          <a:prstGeom prst="rect">
            <a:avLst/>
          </a:prstGeom>
          <a:noFill/>
          <a:ln/>
        </p:spPr>
        <p:txBody>
          <a:bodyPr wrap="none" lIns="0" tIns="0" rIns="0" bIns="0" rtlCol="0" anchor="t"/>
          <a:lstStyle/>
          <a:p>
            <a:pPr marL="0" indent="0" algn="l">
              <a:lnSpc>
                <a:spcPts val="1650"/>
              </a:lnSpc>
              <a:buNone/>
            </a:pPr>
            <a:r>
              <a:rPr lang="en-US" sz="1050" dirty="0">
                <a:solidFill>
                  <a:srgbClr val="D4D4D1"/>
                </a:solidFill>
                <a:latin typeface="Roboto" pitchFamily="34" charset="0"/>
                <a:ea typeface="Roboto" pitchFamily="34" charset="-122"/>
                <a:cs typeface="Roboto" pitchFamily="34" charset="-120"/>
              </a:rPr>
              <a:t>The image is cleaned and prepared for analysis, such as resizing and noise reduction.</a:t>
            </a:r>
            <a:endParaRPr lang="en-US" sz="1050" dirty="0"/>
          </a:p>
        </p:txBody>
      </p:sp>
      <p:pic>
        <p:nvPicPr>
          <p:cNvPr id="12" name="Image 2" descr="preencoded.png"/>
          <p:cNvPicPr>
            <a:picLocks noChangeAspect="1"/>
          </p:cNvPicPr>
          <p:nvPr/>
        </p:nvPicPr>
        <p:blipFill>
          <a:blip r:embed="rId5"/>
          <a:stretch>
            <a:fillRect/>
          </a:stretch>
        </p:blipFill>
        <p:spPr>
          <a:xfrm>
            <a:off x="2879527" y="3568303"/>
            <a:ext cx="670679" cy="1073229"/>
          </a:xfrm>
          <a:prstGeom prst="rect">
            <a:avLst/>
          </a:prstGeom>
        </p:spPr>
      </p:pic>
      <p:sp>
        <p:nvSpPr>
          <p:cNvPr id="13" name="Text 8"/>
          <p:cNvSpPr/>
          <p:nvPr/>
        </p:nvSpPr>
        <p:spPr>
          <a:xfrm>
            <a:off x="3751421" y="3702368"/>
            <a:ext cx="1676876" cy="209550"/>
          </a:xfrm>
          <a:prstGeom prst="rect">
            <a:avLst/>
          </a:prstGeom>
          <a:noFill/>
          <a:ln/>
        </p:spPr>
        <p:txBody>
          <a:bodyPr wrap="none" lIns="0" tIns="0" rIns="0" bIns="0" rtlCol="0" anchor="t"/>
          <a:lstStyle/>
          <a:p>
            <a:pPr marL="0" indent="0" algn="l">
              <a:lnSpc>
                <a:spcPts val="1650"/>
              </a:lnSpc>
              <a:buNone/>
            </a:pPr>
            <a:r>
              <a:rPr lang="en-US" sz="1300" dirty="0">
                <a:solidFill>
                  <a:srgbClr val="D4D4D1"/>
                </a:solidFill>
                <a:latin typeface="IBM Plex Sans" pitchFamily="34" charset="0"/>
                <a:ea typeface="IBM Plex Sans" pitchFamily="34" charset="-122"/>
                <a:cs typeface="IBM Plex Sans" pitchFamily="34" charset="-120"/>
              </a:rPr>
              <a:t>Food Recognition</a:t>
            </a:r>
            <a:endParaRPr lang="en-US" sz="1300" dirty="0"/>
          </a:p>
        </p:txBody>
      </p:sp>
      <p:sp>
        <p:nvSpPr>
          <p:cNvPr id="14" name="Text 9"/>
          <p:cNvSpPr/>
          <p:nvPr/>
        </p:nvSpPr>
        <p:spPr>
          <a:xfrm>
            <a:off x="3751421" y="3992404"/>
            <a:ext cx="7999333" cy="214670"/>
          </a:xfrm>
          <a:prstGeom prst="rect">
            <a:avLst/>
          </a:prstGeom>
          <a:noFill/>
          <a:ln/>
        </p:spPr>
        <p:txBody>
          <a:bodyPr wrap="none" lIns="0" tIns="0" rIns="0" bIns="0" rtlCol="0" anchor="t"/>
          <a:lstStyle/>
          <a:p>
            <a:pPr marL="0" indent="0" algn="l">
              <a:lnSpc>
                <a:spcPts val="1650"/>
              </a:lnSpc>
              <a:buNone/>
            </a:pPr>
            <a:r>
              <a:rPr lang="en-US" sz="1050" dirty="0">
                <a:solidFill>
                  <a:srgbClr val="D4D4D1"/>
                </a:solidFill>
                <a:latin typeface="Roboto" pitchFamily="34" charset="0"/>
                <a:ea typeface="Roboto" pitchFamily="34" charset="-122"/>
                <a:cs typeface="Roboto" pitchFamily="34" charset="-120"/>
              </a:rPr>
              <a:t>Machine learning models identify the food type based on image features.</a:t>
            </a:r>
            <a:endParaRPr lang="en-US" sz="1050" dirty="0"/>
          </a:p>
        </p:txBody>
      </p:sp>
      <p:pic>
        <p:nvPicPr>
          <p:cNvPr id="15" name="Image 3" descr="preencoded.png"/>
          <p:cNvPicPr>
            <a:picLocks noChangeAspect="1"/>
          </p:cNvPicPr>
          <p:nvPr/>
        </p:nvPicPr>
        <p:blipFill>
          <a:blip r:embed="rId6"/>
          <a:stretch>
            <a:fillRect/>
          </a:stretch>
        </p:blipFill>
        <p:spPr>
          <a:xfrm>
            <a:off x="2879527" y="4641533"/>
            <a:ext cx="670679" cy="1073229"/>
          </a:xfrm>
          <a:prstGeom prst="rect">
            <a:avLst/>
          </a:prstGeom>
        </p:spPr>
      </p:pic>
      <p:sp>
        <p:nvSpPr>
          <p:cNvPr id="16" name="Text 10"/>
          <p:cNvSpPr/>
          <p:nvPr/>
        </p:nvSpPr>
        <p:spPr>
          <a:xfrm>
            <a:off x="3751421" y="4775597"/>
            <a:ext cx="1778913" cy="209550"/>
          </a:xfrm>
          <a:prstGeom prst="rect">
            <a:avLst/>
          </a:prstGeom>
          <a:noFill/>
          <a:ln/>
        </p:spPr>
        <p:txBody>
          <a:bodyPr wrap="none" lIns="0" tIns="0" rIns="0" bIns="0" rtlCol="0" anchor="t"/>
          <a:lstStyle/>
          <a:p>
            <a:pPr marL="0" indent="0" algn="l">
              <a:lnSpc>
                <a:spcPts val="1650"/>
              </a:lnSpc>
              <a:buNone/>
            </a:pPr>
            <a:r>
              <a:rPr lang="en-US" sz="1300" dirty="0">
                <a:solidFill>
                  <a:srgbClr val="D4D4D1"/>
                </a:solidFill>
                <a:latin typeface="IBM Plex Sans" pitchFamily="34" charset="0"/>
                <a:ea typeface="IBM Plex Sans" pitchFamily="34" charset="-122"/>
                <a:cs typeface="IBM Plex Sans" pitchFamily="34" charset="-120"/>
              </a:rPr>
              <a:t>Portion Size Estimation</a:t>
            </a:r>
            <a:endParaRPr lang="en-US" sz="1300" dirty="0"/>
          </a:p>
        </p:txBody>
      </p:sp>
      <p:sp>
        <p:nvSpPr>
          <p:cNvPr id="17" name="Text 11"/>
          <p:cNvSpPr/>
          <p:nvPr/>
        </p:nvSpPr>
        <p:spPr>
          <a:xfrm>
            <a:off x="3751421" y="5065633"/>
            <a:ext cx="7999333" cy="214670"/>
          </a:xfrm>
          <a:prstGeom prst="rect">
            <a:avLst/>
          </a:prstGeom>
          <a:noFill/>
          <a:ln/>
        </p:spPr>
        <p:txBody>
          <a:bodyPr wrap="none" lIns="0" tIns="0" rIns="0" bIns="0" rtlCol="0" anchor="t"/>
          <a:lstStyle/>
          <a:p>
            <a:pPr marL="0" indent="0" algn="l">
              <a:lnSpc>
                <a:spcPts val="1650"/>
              </a:lnSpc>
              <a:buNone/>
            </a:pPr>
            <a:r>
              <a:rPr lang="en-US" sz="1050" dirty="0">
                <a:solidFill>
                  <a:srgbClr val="D4D4D1"/>
                </a:solidFill>
                <a:latin typeface="Roboto" pitchFamily="34" charset="0"/>
                <a:ea typeface="Roboto" pitchFamily="34" charset="-122"/>
                <a:cs typeface="Roboto" pitchFamily="34" charset="-120"/>
              </a:rPr>
              <a:t>The system estimates the size of the food item using object detection techniques.</a:t>
            </a:r>
            <a:endParaRPr lang="en-US" sz="1050" dirty="0"/>
          </a:p>
        </p:txBody>
      </p:sp>
      <p:pic>
        <p:nvPicPr>
          <p:cNvPr id="18" name="Image 4" descr="preencoded.png"/>
          <p:cNvPicPr>
            <a:picLocks noChangeAspect="1"/>
          </p:cNvPicPr>
          <p:nvPr/>
        </p:nvPicPr>
        <p:blipFill>
          <a:blip r:embed="rId7"/>
          <a:stretch>
            <a:fillRect/>
          </a:stretch>
        </p:blipFill>
        <p:spPr>
          <a:xfrm>
            <a:off x="2879527" y="5714762"/>
            <a:ext cx="670679" cy="1073229"/>
          </a:xfrm>
          <a:prstGeom prst="rect">
            <a:avLst/>
          </a:prstGeom>
        </p:spPr>
      </p:pic>
      <p:sp>
        <p:nvSpPr>
          <p:cNvPr id="19" name="Text 12"/>
          <p:cNvSpPr/>
          <p:nvPr/>
        </p:nvSpPr>
        <p:spPr>
          <a:xfrm>
            <a:off x="3751421" y="5848826"/>
            <a:ext cx="1676876" cy="209550"/>
          </a:xfrm>
          <a:prstGeom prst="rect">
            <a:avLst/>
          </a:prstGeom>
          <a:noFill/>
          <a:ln/>
        </p:spPr>
        <p:txBody>
          <a:bodyPr wrap="none" lIns="0" tIns="0" rIns="0" bIns="0" rtlCol="0" anchor="t"/>
          <a:lstStyle/>
          <a:p>
            <a:pPr marL="0" indent="0" algn="l">
              <a:lnSpc>
                <a:spcPts val="1650"/>
              </a:lnSpc>
              <a:buNone/>
            </a:pPr>
            <a:r>
              <a:rPr lang="en-US" sz="1300" dirty="0">
                <a:solidFill>
                  <a:srgbClr val="D4D4D1"/>
                </a:solidFill>
                <a:latin typeface="IBM Plex Sans" pitchFamily="34" charset="0"/>
                <a:ea typeface="IBM Plex Sans" pitchFamily="34" charset="-122"/>
                <a:cs typeface="IBM Plex Sans" pitchFamily="34" charset="-120"/>
              </a:rPr>
              <a:t>Nutrient Analysis</a:t>
            </a:r>
            <a:endParaRPr lang="en-US" sz="1300" dirty="0"/>
          </a:p>
        </p:txBody>
      </p:sp>
      <p:sp>
        <p:nvSpPr>
          <p:cNvPr id="20" name="Text 13"/>
          <p:cNvSpPr/>
          <p:nvPr/>
        </p:nvSpPr>
        <p:spPr>
          <a:xfrm>
            <a:off x="3751421" y="6138863"/>
            <a:ext cx="7999333" cy="214670"/>
          </a:xfrm>
          <a:prstGeom prst="rect">
            <a:avLst/>
          </a:prstGeom>
          <a:noFill/>
          <a:ln/>
        </p:spPr>
        <p:txBody>
          <a:bodyPr wrap="none" lIns="0" tIns="0" rIns="0" bIns="0" rtlCol="0" anchor="t"/>
          <a:lstStyle/>
          <a:p>
            <a:pPr marL="0" indent="0" algn="l">
              <a:lnSpc>
                <a:spcPts val="1650"/>
              </a:lnSpc>
              <a:buNone/>
            </a:pPr>
            <a:r>
              <a:rPr lang="en-US" sz="1050" dirty="0">
                <a:solidFill>
                  <a:srgbClr val="D4D4D1"/>
                </a:solidFill>
                <a:latin typeface="Roboto" pitchFamily="34" charset="0"/>
                <a:ea typeface="Roboto" pitchFamily="34" charset="-122"/>
                <a:cs typeface="Roboto" pitchFamily="34" charset="-120"/>
              </a:rPr>
              <a:t>The system calculates the nutrient content of the food based on its type and size.</a:t>
            </a:r>
            <a:endParaRPr lang="en-US" sz="1050" dirty="0"/>
          </a:p>
        </p:txBody>
      </p:sp>
      <p:pic>
        <p:nvPicPr>
          <p:cNvPr id="21" name="Image 5" descr="preencoded.png"/>
          <p:cNvPicPr>
            <a:picLocks noChangeAspect="1"/>
          </p:cNvPicPr>
          <p:nvPr/>
        </p:nvPicPr>
        <p:blipFill>
          <a:blip r:embed="rId8"/>
          <a:stretch>
            <a:fillRect/>
          </a:stretch>
        </p:blipFill>
        <p:spPr>
          <a:xfrm>
            <a:off x="2879527" y="6787991"/>
            <a:ext cx="670679" cy="1073229"/>
          </a:xfrm>
          <a:prstGeom prst="rect">
            <a:avLst/>
          </a:prstGeom>
        </p:spPr>
      </p:pic>
      <p:sp>
        <p:nvSpPr>
          <p:cNvPr id="22" name="Text 14"/>
          <p:cNvSpPr/>
          <p:nvPr/>
        </p:nvSpPr>
        <p:spPr>
          <a:xfrm>
            <a:off x="3751421" y="6922056"/>
            <a:ext cx="2033588" cy="209550"/>
          </a:xfrm>
          <a:prstGeom prst="rect">
            <a:avLst/>
          </a:prstGeom>
          <a:noFill/>
          <a:ln/>
        </p:spPr>
        <p:txBody>
          <a:bodyPr wrap="none" lIns="0" tIns="0" rIns="0" bIns="0" rtlCol="0" anchor="t"/>
          <a:lstStyle/>
          <a:p>
            <a:pPr marL="0" indent="0" algn="l">
              <a:lnSpc>
                <a:spcPts val="1650"/>
              </a:lnSpc>
              <a:buNone/>
            </a:pPr>
            <a:r>
              <a:rPr lang="en-US" sz="1300" dirty="0">
                <a:solidFill>
                  <a:srgbClr val="D4D4D1"/>
                </a:solidFill>
                <a:latin typeface="IBM Plex Sans" pitchFamily="34" charset="0"/>
                <a:ea typeface="IBM Plex Sans" pitchFamily="34" charset="-122"/>
                <a:cs typeface="IBM Plex Sans" pitchFamily="34" charset="-120"/>
              </a:rPr>
              <a:t>Dietary Recommendations</a:t>
            </a:r>
            <a:endParaRPr lang="en-US" sz="1300" dirty="0"/>
          </a:p>
        </p:txBody>
      </p:sp>
      <p:sp>
        <p:nvSpPr>
          <p:cNvPr id="23" name="Text 15"/>
          <p:cNvSpPr/>
          <p:nvPr/>
        </p:nvSpPr>
        <p:spPr>
          <a:xfrm>
            <a:off x="3751421" y="7212092"/>
            <a:ext cx="7999333" cy="214670"/>
          </a:xfrm>
          <a:prstGeom prst="rect">
            <a:avLst/>
          </a:prstGeom>
          <a:noFill/>
          <a:ln/>
        </p:spPr>
        <p:txBody>
          <a:bodyPr wrap="none" lIns="0" tIns="0" rIns="0" bIns="0" rtlCol="0" anchor="t"/>
          <a:lstStyle/>
          <a:p>
            <a:pPr marL="0" indent="0" algn="l">
              <a:lnSpc>
                <a:spcPts val="1650"/>
              </a:lnSpc>
              <a:buNone/>
            </a:pPr>
            <a:r>
              <a:rPr lang="en-US" sz="1050" dirty="0">
                <a:solidFill>
                  <a:srgbClr val="D4D4D1"/>
                </a:solidFill>
                <a:latin typeface="Roboto" pitchFamily="34" charset="0"/>
                <a:ea typeface="Roboto" pitchFamily="34" charset="-122"/>
                <a:cs typeface="Roboto" pitchFamily="34" charset="-120"/>
              </a:rPr>
              <a:t>Personalized recommendations are generated based on the analyzed food data.</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txBody>
          <a:bodyPr/>
          <a:lstStyle/>
          <a:p>
            <a:endParaRPr lang="en-IN"/>
          </a:p>
        </p:txBody>
      </p:sp>
      <p:sp>
        <p:nvSpPr>
          <p:cNvPr id="3" name="Shape 1"/>
          <p:cNvSpPr/>
          <p:nvPr/>
        </p:nvSpPr>
        <p:spPr>
          <a:xfrm>
            <a:off x="0" y="0"/>
            <a:ext cx="14630400" cy="8229600"/>
          </a:xfrm>
          <a:prstGeom prst="rect">
            <a:avLst/>
          </a:prstGeom>
          <a:solidFill>
            <a:srgbClr val="292C32"/>
          </a:solidFill>
          <a:ln/>
        </p:spPr>
        <p:txBody>
          <a:bodyPr/>
          <a:lstStyle/>
          <a:p>
            <a:endParaRPr lang="en-IN"/>
          </a:p>
        </p:txBody>
      </p:sp>
      <p:sp>
        <p:nvSpPr>
          <p:cNvPr id="4" name="Text 2"/>
          <p:cNvSpPr/>
          <p:nvPr/>
        </p:nvSpPr>
        <p:spPr>
          <a:xfrm>
            <a:off x="760392" y="1581507"/>
            <a:ext cx="5737265" cy="708779"/>
          </a:xfrm>
          <a:prstGeom prst="rect">
            <a:avLst/>
          </a:prstGeom>
          <a:noFill/>
          <a:ln/>
        </p:spPr>
        <p:txBody>
          <a:bodyPr wrap="none" lIns="0" tIns="0" rIns="0" bIns="0" rtlCol="0" anchor="t"/>
          <a:lstStyle/>
          <a:p>
            <a:pPr marL="0" indent="0">
              <a:lnSpc>
                <a:spcPts val="5550"/>
              </a:lnSpc>
              <a:buNone/>
            </a:pPr>
            <a:r>
              <a:rPr lang="en-US" sz="4450" dirty="0">
                <a:solidFill>
                  <a:srgbClr val="F3F3F2"/>
                </a:solidFill>
                <a:latin typeface="IBM Plex Sans" pitchFamily="34" charset="0"/>
                <a:ea typeface="IBM Plex Sans" pitchFamily="34" charset="-122"/>
                <a:cs typeface="IBM Plex Sans" pitchFamily="34" charset="-120"/>
              </a:rPr>
              <a:t>Importing the Dataset</a:t>
            </a:r>
            <a:endParaRPr lang="en-US" sz="4450" dirty="0"/>
          </a:p>
        </p:txBody>
      </p:sp>
      <p:sp>
        <p:nvSpPr>
          <p:cNvPr id="5" name="Text 3"/>
          <p:cNvSpPr/>
          <p:nvPr/>
        </p:nvSpPr>
        <p:spPr>
          <a:xfrm>
            <a:off x="760392" y="2792253"/>
            <a:ext cx="13042821" cy="725805"/>
          </a:xfrm>
          <a:prstGeom prst="rect">
            <a:avLst/>
          </a:prstGeom>
          <a:noFill/>
          <a:ln/>
        </p:spPr>
        <p:txBody>
          <a:bodyPr wrap="square" lIns="0" tIns="0" rIns="0" bIns="0" rtlCol="0" anchor="t"/>
          <a:lstStyle/>
          <a:p>
            <a:pPr marL="0" indent="0">
              <a:lnSpc>
                <a:spcPts val="2850"/>
              </a:lnSpc>
              <a:buNone/>
            </a:pPr>
            <a:r>
              <a:rPr lang="en-US" sz="1750" dirty="0">
                <a:solidFill>
                  <a:srgbClr val="D4D4D1"/>
                </a:solidFill>
                <a:latin typeface="Roboto" pitchFamily="34" charset="0"/>
                <a:ea typeface="Roboto" pitchFamily="34" charset="-122"/>
                <a:cs typeface="Roboto" pitchFamily="34" charset="-120"/>
              </a:rPr>
              <a:t>A comprehensive dataset of food images is required to train the machine learning models. The dataset should include a wide variety of food items, with multiple images per item and variations in lighting and presentation.</a:t>
            </a:r>
            <a:endParaRPr lang="en-US" sz="1750" dirty="0"/>
          </a:p>
        </p:txBody>
      </p:sp>
      <p:sp>
        <p:nvSpPr>
          <p:cNvPr id="6" name="Text 4"/>
          <p:cNvSpPr/>
          <p:nvPr/>
        </p:nvSpPr>
        <p:spPr>
          <a:xfrm>
            <a:off x="793790" y="4362926"/>
            <a:ext cx="2835235" cy="354330"/>
          </a:xfrm>
          <a:prstGeom prst="rect">
            <a:avLst/>
          </a:prstGeom>
          <a:noFill/>
          <a:ln/>
        </p:spPr>
        <p:txBody>
          <a:bodyPr wrap="none" lIns="0" tIns="0" rIns="0" bIns="0" rtlCol="0" anchor="t"/>
          <a:lstStyle/>
          <a:p>
            <a:pPr marL="0" indent="0">
              <a:lnSpc>
                <a:spcPts val="2750"/>
              </a:lnSpc>
              <a:buNone/>
            </a:pPr>
            <a:r>
              <a:rPr lang="en-US" sz="2200" dirty="0">
                <a:solidFill>
                  <a:srgbClr val="F3F3F2"/>
                </a:solidFill>
                <a:latin typeface="IBM Plex Sans" pitchFamily="34" charset="0"/>
                <a:ea typeface="IBM Plex Sans" pitchFamily="34" charset="-122"/>
                <a:cs typeface="IBM Plex Sans" pitchFamily="34" charset="-120"/>
              </a:rPr>
              <a:t>Data Collection</a:t>
            </a:r>
            <a:endParaRPr lang="en-US" sz="2200" dirty="0"/>
          </a:p>
        </p:txBody>
      </p:sp>
      <p:sp>
        <p:nvSpPr>
          <p:cNvPr id="7" name="Text 5"/>
          <p:cNvSpPr/>
          <p:nvPr/>
        </p:nvSpPr>
        <p:spPr>
          <a:xfrm>
            <a:off x="793790" y="4944070"/>
            <a:ext cx="3978116" cy="1088708"/>
          </a:xfrm>
          <a:prstGeom prst="rect">
            <a:avLst/>
          </a:prstGeom>
          <a:noFill/>
          <a:ln/>
        </p:spPr>
        <p:txBody>
          <a:bodyPr wrap="square" lIns="0" tIns="0" rIns="0" bIns="0" rtlCol="0" anchor="t"/>
          <a:lstStyle/>
          <a:p>
            <a:pPr marL="0" indent="0">
              <a:lnSpc>
                <a:spcPts val="2850"/>
              </a:lnSpc>
              <a:buNone/>
            </a:pPr>
            <a:r>
              <a:rPr lang="en-US" sz="1750" dirty="0">
                <a:solidFill>
                  <a:srgbClr val="D4D4D1"/>
                </a:solidFill>
                <a:latin typeface="Roboto" pitchFamily="34" charset="0"/>
                <a:ea typeface="Roboto" pitchFamily="34" charset="-122"/>
                <a:cs typeface="Roboto" pitchFamily="34" charset="-120"/>
              </a:rPr>
              <a:t>Images can be collected from online sources, food databases, or through user-generated content.</a:t>
            </a:r>
            <a:endParaRPr lang="en-US" sz="1750" dirty="0"/>
          </a:p>
        </p:txBody>
      </p:sp>
      <p:sp>
        <p:nvSpPr>
          <p:cNvPr id="8" name="Text 6"/>
          <p:cNvSpPr/>
          <p:nvPr/>
        </p:nvSpPr>
        <p:spPr>
          <a:xfrm>
            <a:off x="5332928" y="4362926"/>
            <a:ext cx="2835235" cy="354330"/>
          </a:xfrm>
          <a:prstGeom prst="rect">
            <a:avLst/>
          </a:prstGeom>
          <a:noFill/>
          <a:ln/>
        </p:spPr>
        <p:txBody>
          <a:bodyPr wrap="none" lIns="0" tIns="0" rIns="0" bIns="0" rtlCol="0" anchor="t"/>
          <a:lstStyle/>
          <a:p>
            <a:pPr marL="0" indent="0">
              <a:lnSpc>
                <a:spcPts val="2750"/>
              </a:lnSpc>
              <a:buNone/>
            </a:pPr>
            <a:r>
              <a:rPr lang="en-US" sz="2200" dirty="0">
                <a:solidFill>
                  <a:srgbClr val="F3F3F2"/>
                </a:solidFill>
                <a:latin typeface="IBM Plex Sans" pitchFamily="34" charset="0"/>
                <a:ea typeface="IBM Plex Sans" pitchFamily="34" charset="-122"/>
                <a:cs typeface="IBM Plex Sans" pitchFamily="34" charset="-120"/>
              </a:rPr>
              <a:t>Data Annotation</a:t>
            </a:r>
            <a:endParaRPr lang="en-US" sz="2200" dirty="0"/>
          </a:p>
        </p:txBody>
      </p:sp>
      <p:sp>
        <p:nvSpPr>
          <p:cNvPr id="9" name="Text 7"/>
          <p:cNvSpPr/>
          <p:nvPr/>
        </p:nvSpPr>
        <p:spPr>
          <a:xfrm>
            <a:off x="5332928" y="4944070"/>
            <a:ext cx="3978116" cy="1088708"/>
          </a:xfrm>
          <a:prstGeom prst="rect">
            <a:avLst/>
          </a:prstGeom>
          <a:noFill/>
          <a:ln/>
        </p:spPr>
        <p:txBody>
          <a:bodyPr wrap="square" lIns="0" tIns="0" rIns="0" bIns="0" rtlCol="0" anchor="t"/>
          <a:lstStyle/>
          <a:p>
            <a:pPr marL="0" indent="0">
              <a:lnSpc>
                <a:spcPts val="2850"/>
              </a:lnSpc>
              <a:buNone/>
            </a:pPr>
            <a:r>
              <a:rPr lang="en-US" sz="1750" dirty="0">
                <a:solidFill>
                  <a:srgbClr val="D4D4D1"/>
                </a:solidFill>
                <a:latin typeface="Roboto" pitchFamily="34" charset="0"/>
                <a:ea typeface="Roboto" pitchFamily="34" charset="-122"/>
                <a:cs typeface="Roboto" pitchFamily="34" charset="-120"/>
              </a:rPr>
              <a:t>Each image in the dataset must be annotated with the corresponding food type and portion size information.</a:t>
            </a:r>
            <a:endParaRPr lang="en-US" sz="1750" dirty="0"/>
          </a:p>
        </p:txBody>
      </p:sp>
      <p:sp>
        <p:nvSpPr>
          <p:cNvPr id="10" name="Text 8"/>
          <p:cNvSpPr/>
          <p:nvPr/>
        </p:nvSpPr>
        <p:spPr>
          <a:xfrm>
            <a:off x="9872067" y="4362926"/>
            <a:ext cx="2835235" cy="354330"/>
          </a:xfrm>
          <a:prstGeom prst="rect">
            <a:avLst/>
          </a:prstGeom>
          <a:noFill/>
          <a:ln/>
        </p:spPr>
        <p:txBody>
          <a:bodyPr wrap="none" lIns="0" tIns="0" rIns="0" bIns="0" rtlCol="0" anchor="t"/>
          <a:lstStyle/>
          <a:p>
            <a:pPr marL="0" indent="0">
              <a:lnSpc>
                <a:spcPts val="2750"/>
              </a:lnSpc>
              <a:buNone/>
            </a:pPr>
            <a:r>
              <a:rPr lang="en-US" sz="2200" dirty="0">
                <a:solidFill>
                  <a:srgbClr val="F3F3F2"/>
                </a:solidFill>
                <a:latin typeface="IBM Plex Sans" pitchFamily="34" charset="0"/>
                <a:ea typeface="IBM Plex Sans" pitchFamily="34" charset="-122"/>
                <a:cs typeface="IBM Plex Sans" pitchFamily="34" charset="-120"/>
              </a:rPr>
              <a:t>Data Splitting</a:t>
            </a:r>
            <a:endParaRPr lang="en-US" sz="2200" dirty="0"/>
          </a:p>
        </p:txBody>
      </p:sp>
      <p:sp>
        <p:nvSpPr>
          <p:cNvPr id="11" name="Text 9"/>
          <p:cNvSpPr/>
          <p:nvPr/>
        </p:nvSpPr>
        <p:spPr>
          <a:xfrm>
            <a:off x="9872067" y="4944070"/>
            <a:ext cx="3978116" cy="1088708"/>
          </a:xfrm>
          <a:prstGeom prst="rect">
            <a:avLst/>
          </a:prstGeom>
          <a:noFill/>
          <a:ln/>
        </p:spPr>
        <p:txBody>
          <a:bodyPr wrap="square" lIns="0" tIns="0" rIns="0" bIns="0" rtlCol="0" anchor="t"/>
          <a:lstStyle/>
          <a:p>
            <a:pPr marL="0" indent="0">
              <a:lnSpc>
                <a:spcPts val="2850"/>
              </a:lnSpc>
              <a:buNone/>
            </a:pPr>
            <a:r>
              <a:rPr lang="en-US" sz="1750" dirty="0">
                <a:solidFill>
                  <a:srgbClr val="D4D4D1"/>
                </a:solidFill>
                <a:latin typeface="Roboto" pitchFamily="34" charset="0"/>
                <a:ea typeface="Roboto" pitchFamily="34" charset="-122"/>
                <a:cs typeface="Roboto" pitchFamily="34" charset="-120"/>
              </a:rPr>
              <a:t>The dataset is split into training, validation, and testing sets for model development and evaluation.</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txBody>
          <a:bodyPr/>
          <a:lstStyle/>
          <a:p>
            <a:endParaRPr lang="en-IN"/>
          </a:p>
        </p:txBody>
      </p:sp>
      <p:sp>
        <p:nvSpPr>
          <p:cNvPr id="3" name="Shape 1"/>
          <p:cNvSpPr/>
          <p:nvPr/>
        </p:nvSpPr>
        <p:spPr>
          <a:xfrm>
            <a:off x="0" y="0"/>
            <a:ext cx="14630400" cy="8234839"/>
          </a:xfrm>
          <a:prstGeom prst="rect">
            <a:avLst/>
          </a:prstGeom>
          <a:solidFill>
            <a:srgbClr val="292C32"/>
          </a:solidFill>
          <a:ln/>
        </p:spPr>
        <p:txBody>
          <a:bodyPr/>
          <a:lstStyle/>
          <a:p>
            <a:endParaRPr lang="en-IN"/>
          </a:p>
        </p:txBody>
      </p:sp>
      <p:pic>
        <p:nvPicPr>
          <p:cNvPr id="4" name="Image 0" descr="preencoded.png"/>
          <p:cNvPicPr>
            <a:picLocks noChangeAspect="1"/>
          </p:cNvPicPr>
          <p:nvPr/>
        </p:nvPicPr>
        <p:blipFill>
          <a:blip r:embed="rId3"/>
          <a:stretch>
            <a:fillRect/>
          </a:stretch>
        </p:blipFill>
        <p:spPr>
          <a:xfrm>
            <a:off x="0" y="0"/>
            <a:ext cx="5486400" cy="8234839"/>
          </a:xfrm>
          <a:prstGeom prst="rect">
            <a:avLst/>
          </a:prstGeom>
        </p:spPr>
      </p:pic>
      <p:pic>
        <p:nvPicPr>
          <p:cNvPr id="5" name="Image 1" descr="preencoded.png"/>
          <p:cNvPicPr>
            <a:picLocks noChangeAspect="1"/>
          </p:cNvPicPr>
          <p:nvPr/>
        </p:nvPicPr>
        <p:blipFill>
          <a:blip r:embed="rId4"/>
          <a:stretch>
            <a:fillRect/>
          </a:stretch>
        </p:blipFill>
        <p:spPr>
          <a:xfrm>
            <a:off x="332804" y="2100382"/>
            <a:ext cx="4954786" cy="4034076"/>
          </a:xfrm>
          <a:prstGeom prst="rect">
            <a:avLst/>
          </a:prstGeom>
        </p:spPr>
      </p:pic>
      <p:sp>
        <p:nvSpPr>
          <p:cNvPr id="6" name="Text 2"/>
          <p:cNvSpPr/>
          <p:nvPr/>
        </p:nvSpPr>
        <p:spPr>
          <a:xfrm>
            <a:off x="6230660" y="584716"/>
            <a:ext cx="7655481" cy="1328976"/>
          </a:xfrm>
          <a:prstGeom prst="rect">
            <a:avLst/>
          </a:prstGeom>
          <a:noFill/>
          <a:ln/>
        </p:spPr>
        <p:txBody>
          <a:bodyPr wrap="square" lIns="0" tIns="0" rIns="0" bIns="0" rtlCol="0" anchor="t"/>
          <a:lstStyle/>
          <a:p>
            <a:pPr marL="0" indent="0">
              <a:lnSpc>
                <a:spcPts val="5200"/>
              </a:lnSpc>
              <a:buNone/>
            </a:pPr>
            <a:r>
              <a:rPr lang="en-US" sz="4150" dirty="0">
                <a:solidFill>
                  <a:srgbClr val="F3F3F2"/>
                </a:solidFill>
                <a:latin typeface="IBM Plex Sans" pitchFamily="34" charset="0"/>
                <a:ea typeface="IBM Plex Sans" pitchFamily="34" charset="-122"/>
                <a:cs typeface="IBM Plex Sans" pitchFamily="34" charset="-120"/>
              </a:rPr>
              <a:t>Classifying Food Types Using Machine Learning Models</a:t>
            </a:r>
            <a:endParaRPr lang="en-US" sz="4150" dirty="0"/>
          </a:p>
        </p:txBody>
      </p:sp>
      <p:sp>
        <p:nvSpPr>
          <p:cNvPr id="7" name="Text 3"/>
          <p:cNvSpPr/>
          <p:nvPr/>
        </p:nvSpPr>
        <p:spPr>
          <a:xfrm>
            <a:off x="6230660" y="2232660"/>
            <a:ext cx="7655481" cy="680323"/>
          </a:xfrm>
          <a:prstGeom prst="rect">
            <a:avLst/>
          </a:prstGeom>
          <a:noFill/>
          <a:ln/>
        </p:spPr>
        <p:txBody>
          <a:bodyPr wrap="square" lIns="0" tIns="0" rIns="0" bIns="0" rtlCol="0" anchor="t"/>
          <a:lstStyle/>
          <a:p>
            <a:pPr marL="0" indent="0">
              <a:lnSpc>
                <a:spcPts val="2650"/>
              </a:lnSpc>
              <a:buNone/>
            </a:pPr>
            <a:r>
              <a:rPr lang="en-US" sz="1650" dirty="0">
                <a:solidFill>
                  <a:srgbClr val="D4D4D1"/>
                </a:solidFill>
                <a:latin typeface="Roboto" pitchFamily="34" charset="0"/>
                <a:ea typeface="Roboto" pitchFamily="34" charset="-122"/>
                <a:cs typeface="Roboto" pitchFamily="34" charset="-120"/>
              </a:rPr>
              <a:t>Machine learning algorithms are trained on the dataset to learn patterns and features that distinguish different food types.</a:t>
            </a:r>
            <a:endParaRPr lang="en-US" sz="1650" dirty="0"/>
          </a:p>
        </p:txBody>
      </p:sp>
      <p:sp>
        <p:nvSpPr>
          <p:cNvPr id="8" name="Shape 4"/>
          <p:cNvSpPr/>
          <p:nvPr/>
        </p:nvSpPr>
        <p:spPr>
          <a:xfrm>
            <a:off x="6230660" y="3152180"/>
            <a:ext cx="7655481" cy="4497943"/>
          </a:xfrm>
          <a:prstGeom prst="roundRect">
            <a:avLst>
              <a:gd name="adj" fmla="val 709"/>
            </a:avLst>
          </a:prstGeom>
          <a:noFill/>
          <a:ln w="7620">
            <a:solidFill>
              <a:srgbClr val="FFFFFF">
                <a:alpha val="24000"/>
              </a:srgbClr>
            </a:solidFill>
            <a:prstDash val="solid"/>
          </a:ln>
        </p:spPr>
        <p:txBody>
          <a:bodyPr/>
          <a:lstStyle/>
          <a:p>
            <a:endParaRPr lang="en-IN"/>
          </a:p>
        </p:txBody>
      </p:sp>
      <p:sp>
        <p:nvSpPr>
          <p:cNvPr id="9" name="Shape 5"/>
          <p:cNvSpPr/>
          <p:nvPr/>
        </p:nvSpPr>
        <p:spPr>
          <a:xfrm>
            <a:off x="6238280" y="3159800"/>
            <a:ext cx="7640241" cy="610433"/>
          </a:xfrm>
          <a:prstGeom prst="rect">
            <a:avLst/>
          </a:prstGeom>
          <a:solidFill>
            <a:srgbClr val="FFFFFF">
              <a:alpha val="4000"/>
            </a:srgbClr>
          </a:solidFill>
          <a:ln/>
        </p:spPr>
        <p:txBody>
          <a:bodyPr/>
          <a:lstStyle/>
          <a:p>
            <a:endParaRPr lang="en-IN"/>
          </a:p>
        </p:txBody>
      </p:sp>
      <p:sp>
        <p:nvSpPr>
          <p:cNvPr id="10" name="Text 6"/>
          <p:cNvSpPr/>
          <p:nvPr/>
        </p:nvSpPr>
        <p:spPr>
          <a:xfrm>
            <a:off x="6450925" y="3294936"/>
            <a:ext cx="3391019" cy="340162"/>
          </a:xfrm>
          <a:prstGeom prst="rect">
            <a:avLst/>
          </a:prstGeom>
          <a:noFill/>
          <a:ln/>
        </p:spPr>
        <p:txBody>
          <a:bodyPr wrap="none" lIns="0" tIns="0" rIns="0" bIns="0" rtlCol="0" anchor="t"/>
          <a:lstStyle/>
          <a:p>
            <a:pPr marL="0" indent="0">
              <a:lnSpc>
                <a:spcPts val="2650"/>
              </a:lnSpc>
              <a:buNone/>
            </a:pPr>
            <a:r>
              <a:rPr lang="en-US" sz="1650" dirty="0">
                <a:solidFill>
                  <a:srgbClr val="D4D4D1"/>
                </a:solidFill>
                <a:latin typeface="Roboto" pitchFamily="34" charset="0"/>
                <a:ea typeface="Roboto" pitchFamily="34" charset="-122"/>
                <a:cs typeface="Roboto" pitchFamily="34" charset="-120"/>
              </a:rPr>
              <a:t>Model Type</a:t>
            </a:r>
            <a:endParaRPr lang="en-US" sz="1650" dirty="0"/>
          </a:p>
        </p:txBody>
      </p:sp>
      <p:sp>
        <p:nvSpPr>
          <p:cNvPr id="11" name="Text 7"/>
          <p:cNvSpPr/>
          <p:nvPr/>
        </p:nvSpPr>
        <p:spPr>
          <a:xfrm>
            <a:off x="10274856" y="3294936"/>
            <a:ext cx="3391019" cy="340162"/>
          </a:xfrm>
          <a:prstGeom prst="rect">
            <a:avLst/>
          </a:prstGeom>
          <a:noFill/>
          <a:ln/>
        </p:spPr>
        <p:txBody>
          <a:bodyPr wrap="none" lIns="0" tIns="0" rIns="0" bIns="0" rtlCol="0" anchor="t"/>
          <a:lstStyle/>
          <a:p>
            <a:pPr marL="0" indent="0">
              <a:lnSpc>
                <a:spcPts val="2650"/>
              </a:lnSpc>
              <a:buNone/>
            </a:pPr>
            <a:r>
              <a:rPr lang="en-US" sz="1650" dirty="0">
                <a:solidFill>
                  <a:srgbClr val="D4D4D1"/>
                </a:solidFill>
                <a:latin typeface="Roboto" pitchFamily="34" charset="0"/>
                <a:ea typeface="Roboto" pitchFamily="34" charset="-122"/>
                <a:cs typeface="Roboto" pitchFamily="34" charset="-120"/>
              </a:rPr>
              <a:t>Description</a:t>
            </a:r>
            <a:endParaRPr lang="en-US" sz="1650" dirty="0"/>
          </a:p>
        </p:txBody>
      </p:sp>
      <p:sp>
        <p:nvSpPr>
          <p:cNvPr id="12" name="Shape 8"/>
          <p:cNvSpPr/>
          <p:nvPr/>
        </p:nvSpPr>
        <p:spPr>
          <a:xfrm>
            <a:off x="6238280" y="3770233"/>
            <a:ext cx="7640241" cy="1290757"/>
          </a:xfrm>
          <a:prstGeom prst="rect">
            <a:avLst/>
          </a:prstGeom>
          <a:solidFill>
            <a:srgbClr val="000000">
              <a:alpha val="4000"/>
            </a:srgbClr>
          </a:solidFill>
          <a:ln/>
        </p:spPr>
        <p:txBody>
          <a:bodyPr/>
          <a:lstStyle/>
          <a:p>
            <a:endParaRPr lang="en-IN"/>
          </a:p>
        </p:txBody>
      </p:sp>
      <p:sp>
        <p:nvSpPr>
          <p:cNvPr id="13" name="Text 9"/>
          <p:cNvSpPr/>
          <p:nvPr/>
        </p:nvSpPr>
        <p:spPr>
          <a:xfrm>
            <a:off x="6450925" y="3905369"/>
            <a:ext cx="3391019" cy="680323"/>
          </a:xfrm>
          <a:prstGeom prst="rect">
            <a:avLst/>
          </a:prstGeom>
          <a:noFill/>
          <a:ln/>
        </p:spPr>
        <p:txBody>
          <a:bodyPr wrap="square" lIns="0" tIns="0" rIns="0" bIns="0" rtlCol="0" anchor="t"/>
          <a:lstStyle/>
          <a:p>
            <a:pPr marL="0" indent="0">
              <a:lnSpc>
                <a:spcPts val="2650"/>
              </a:lnSpc>
              <a:buNone/>
            </a:pPr>
            <a:r>
              <a:rPr lang="en-US" sz="1650" dirty="0">
                <a:solidFill>
                  <a:srgbClr val="D4D4D1"/>
                </a:solidFill>
                <a:latin typeface="Roboto" pitchFamily="34" charset="0"/>
                <a:ea typeface="Roboto" pitchFamily="34" charset="-122"/>
                <a:cs typeface="Roboto" pitchFamily="34" charset="-120"/>
              </a:rPr>
              <a:t>Convolutional Neural Networks (CNNs)</a:t>
            </a:r>
            <a:endParaRPr lang="en-US" sz="1650" dirty="0"/>
          </a:p>
        </p:txBody>
      </p:sp>
      <p:sp>
        <p:nvSpPr>
          <p:cNvPr id="14" name="Text 10"/>
          <p:cNvSpPr/>
          <p:nvPr/>
        </p:nvSpPr>
        <p:spPr>
          <a:xfrm>
            <a:off x="10274856" y="3905369"/>
            <a:ext cx="3391019" cy="1020485"/>
          </a:xfrm>
          <a:prstGeom prst="rect">
            <a:avLst/>
          </a:prstGeom>
          <a:noFill/>
          <a:ln/>
        </p:spPr>
        <p:txBody>
          <a:bodyPr wrap="square" lIns="0" tIns="0" rIns="0" bIns="0" rtlCol="0" anchor="t"/>
          <a:lstStyle/>
          <a:p>
            <a:pPr marL="0" indent="0">
              <a:lnSpc>
                <a:spcPts val="2650"/>
              </a:lnSpc>
              <a:buNone/>
            </a:pPr>
            <a:r>
              <a:rPr lang="en-US" sz="1650" dirty="0">
                <a:solidFill>
                  <a:srgbClr val="D4D4D1"/>
                </a:solidFill>
                <a:latin typeface="Roboto" pitchFamily="34" charset="0"/>
                <a:ea typeface="Roboto" pitchFamily="34" charset="-122"/>
                <a:cs typeface="Roboto" pitchFamily="34" charset="-120"/>
              </a:rPr>
              <a:t>Effective for image recognition tasks, extracting features from images.</a:t>
            </a:r>
            <a:endParaRPr lang="en-US" sz="1650" dirty="0"/>
          </a:p>
        </p:txBody>
      </p:sp>
      <p:sp>
        <p:nvSpPr>
          <p:cNvPr id="15" name="Shape 11"/>
          <p:cNvSpPr/>
          <p:nvPr/>
        </p:nvSpPr>
        <p:spPr>
          <a:xfrm>
            <a:off x="6238280" y="5060990"/>
            <a:ext cx="7640241" cy="1290757"/>
          </a:xfrm>
          <a:prstGeom prst="rect">
            <a:avLst/>
          </a:prstGeom>
          <a:solidFill>
            <a:srgbClr val="FFFFFF">
              <a:alpha val="4000"/>
            </a:srgbClr>
          </a:solidFill>
          <a:ln/>
        </p:spPr>
        <p:txBody>
          <a:bodyPr/>
          <a:lstStyle/>
          <a:p>
            <a:endParaRPr lang="en-IN"/>
          </a:p>
        </p:txBody>
      </p:sp>
      <p:sp>
        <p:nvSpPr>
          <p:cNvPr id="16" name="Text 12"/>
          <p:cNvSpPr/>
          <p:nvPr/>
        </p:nvSpPr>
        <p:spPr>
          <a:xfrm>
            <a:off x="6450925" y="5196126"/>
            <a:ext cx="3391019" cy="340162"/>
          </a:xfrm>
          <a:prstGeom prst="rect">
            <a:avLst/>
          </a:prstGeom>
          <a:noFill/>
          <a:ln/>
        </p:spPr>
        <p:txBody>
          <a:bodyPr wrap="none" lIns="0" tIns="0" rIns="0" bIns="0" rtlCol="0" anchor="t"/>
          <a:lstStyle/>
          <a:p>
            <a:pPr marL="0" indent="0">
              <a:lnSpc>
                <a:spcPts val="2650"/>
              </a:lnSpc>
              <a:buNone/>
            </a:pPr>
            <a:r>
              <a:rPr lang="en-US" sz="1650" dirty="0">
                <a:solidFill>
                  <a:srgbClr val="D4D4D1"/>
                </a:solidFill>
                <a:latin typeface="Roboto" pitchFamily="34" charset="0"/>
                <a:ea typeface="Roboto" pitchFamily="34" charset="-122"/>
                <a:cs typeface="Roboto" pitchFamily="34" charset="-120"/>
              </a:rPr>
              <a:t>Support Vector Machines (SVMs)</a:t>
            </a:r>
            <a:endParaRPr lang="en-US" sz="1650" dirty="0"/>
          </a:p>
        </p:txBody>
      </p:sp>
      <p:sp>
        <p:nvSpPr>
          <p:cNvPr id="17" name="Text 13"/>
          <p:cNvSpPr/>
          <p:nvPr/>
        </p:nvSpPr>
        <p:spPr>
          <a:xfrm>
            <a:off x="10274856" y="5196126"/>
            <a:ext cx="3391019" cy="1020485"/>
          </a:xfrm>
          <a:prstGeom prst="rect">
            <a:avLst/>
          </a:prstGeom>
          <a:noFill/>
          <a:ln/>
        </p:spPr>
        <p:txBody>
          <a:bodyPr wrap="square" lIns="0" tIns="0" rIns="0" bIns="0" rtlCol="0" anchor="t"/>
          <a:lstStyle/>
          <a:p>
            <a:pPr marL="0" indent="0">
              <a:lnSpc>
                <a:spcPts val="2650"/>
              </a:lnSpc>
              <a:buNone/>
            </a:pPr>
            <a:r>
              <a:rPr lang="en-US" sz="1650" dirty="0">
                <a:solidFill>
                  <a:srgbClr val="D4D4D1"/>
                </a:solidFill>
                <a:latin typeface="Roboto" pitchFamily="34" charset="0"/>
                <a:ea typeface="Roboto" pitchFamily="34" charset="-122"/>
                <a:cs typeface="Roboto" pitchFamily="34" charset="-120"/>
              </a:rPr>
              <a:t>Powerful for classifying data into distinct categories, based on labeled examples.</a:t>
            </a:r>
            <a:endParaRPr lang="en-US" sz="1650" dirty="0"/>
          </a:p>
        </p:txBody>
      </p:sp>
      <p:sp>
        <p:nvSpPr>
          <p:cNvPr id="18" name="Shape 14"/>
          <p:cNvSpPr/>
          <p:nvPr/>
        </p:nvSpPr>
        <p:spPr>
          <a:xfrm>
            <a:off x="6238280" y="6351746"/>
            <a:ext cx="7640241" cy="1290757"/>
          </a:xfrm>
          <a:prstGeom prst="rect">
            <a:avLst/>
          </a:prstGeom>
          <a:solidFill>
            <a:srgbClr val="000000">
              <a:alpha val="4000"/>
            </a:srgbClr>
          </a:solidFill>
          <a:ln/>
        </p:spPr>
        <p:txBody>
          <a:bodyPr/>
          <a:lstStyle/>
          <a:p>
            <a:endParaRPr lang="en-IN"/>
          </a:p>
        </p:txBody>
      </p:sp>
      <p:sp>
        <p:nvSpPr>
          <p:cNvPr id="19" name="Text 15"/>
          <p:cNvSpPr/>
          <p:nvPr/>
        </p:nvSpPr>
        <p:spPr>
          <a:xfrm>
            <a:off x="6450925" y="6486882"/>
            <a:ext cx="3391019" cy="340162"/>
          </a:xfrm>
          <a:prstGeom prst="rect">
            <a:avLst/>
          </a:prstGeom>
          <a:noFill/>
          <a:ln/>
        </p:spPr>
        <p:txBody>
          <a:bodyPr wrap="none" lIns="0" tIns="0" rIns="0" bIns="0" rtlCol="0" anchor="t"/>
          <a:lstStyle/>
          <a:p>
            <a:pPr marL="0" indent="0">
              <a:lnSpc>
                <a:spcPts val="2650"/>
              </a:lnSpc>
              <a:buNone/>
            </a:pPr>
            <a:r>
              <a:rPr lang="en-US" sz="1650" dirty="0">
                <a:solidFill>
                  <a:srgbClr val="D4D4D1"/>
                </a:solidFill>
                <a:latin typeface="Roboto" pitchFamily="34" charset="0"/>
                <a:ea typeface="Roboto" pitchFamily="34" charset="-122"/>
                <a:cs typeface="Roboto" pitchFamily="34" charset="-120"/>
              </a:rPr>
              <a:t>Random Forests</a:t>
            </a:r>
            <a:endParaRPr lang="en-US" sz="1650" dirty="0"/>
          </a:p>
        </p:txBody>
      </p:sp>
      <p:sp>
        <p:nvSpPr>
          <p:cNvPr id="20" name="Text 16"/>
          <p:cNvSpPr/>
          <p:nvPr/>
        </p:nvSpPr>
        <p:spPr>
          <a:xfrm>
            <a:off x="10274856" y="6486882"/>
            <a:ext cx="3391019" cy="1020485"/>
          </a:xfrm>
          <a:prstGeom prst="rect">
            <a:avLst/>
          </a:prstGeom>
          <a:noFill/>
          <a:ln/>
        </p:spPr>
        <p:txBody>
          <a:bodyPr wrap="square" lIns="0" tIns="0" rIns="0" bIns="0" rtlCol="0" anchor="t"/>
          <a:lstStyle/>
          <a:p>
            <a:pPr marL="0" indent="0">
              <a:lnSpc>
                <a:spcPts val="2650"/>
              </a:lnSpc>
              <a:buNone/>
            </a:pPr>
            <a:r>
              <a:rPr lang="en-US" sz="1650" dirty="0">
                <a:solidFill>
                  <a:srgbClr val="D4D4D1"/>
                </a:solidFill>
                <a:latin typeface="Roboto" pitchFamily="34" charset="0"/>
                <a:ea typeface="Roboto" pitchFamily="34" charset="-122"/>
                <a:cs typeface="Roboto" pitchFamily="34" charset="-120"/>
              </a:rPr>
              <a:t>Ensemble learning approach, combining multiple decision trees to improve accuracy.</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txBody>
          <a:bodyPr/>
          <a:lstStyle/>
          <a:p>
            <a:endParaRPr lang="en-IN"/>
          </a:p>
        </p:txBody>
      </p:sp>
      <p:sp>
        <p:nvSpPr>
          <p:cNvPr id="3" name="Shape 1"/>
          <p:cNvSpPr/>
          <p:nvPr/>
        </p:nvSpPr>
        <p:spPr>
          <a:xfrm>
            <a:off x="0" y="0"/>
            <a:ext cx="14630400" cy="8229600"/>
          </a:xfrm>
          <a:prstGeom prst="rect">
            <a:avLst/>
          </a:prstGeom>
          <a:solidFill>
            <a:srgbClr val="292C32"/>
          </a:solidFill>
          <a:ln/>
        </p:spPr>
        <p:txBody>
          <a:bodyPr/>
          <a:lstStyle/>
          <a:p>
            <a:endParaRPr lang="en-IN"/>
          </a:p>
        </p:txBody>
      </p:sp>
      <p:pic>
        <p:nvPicPr>
          <p:cNvPr id="4" name="Image 0" descr="preencoded.png"/>
          <p:cNvPicPr>
            <a:picLocks noChangeAspect="1"/>
          </p:cNvPicPr>
          <p:nvPr/>
        </p:nvPicPr>
        <p:blipFill>
          <a:blip r:embed="rId3"/>
          <a:stretch>
            <a:fillRect/>
          </a:stretch>
        </p:blipFill>
        <p:spPr>
          <a:xfrm>
            <a:off x="0" y="0"/>
            <a:ext cx="14630400" cy="2835235"/>
          </a:xfrm>
          <a:prstGeom prst="rect">
            <a:avLst/>
          </a:prstGeom>
        </p:spPr>
      </p:pic>
      <p:pic>
        <p:nvPicPr>
          <p:cNvPr id="5" name="Image 1" descr="preencoded.png"/>
          <p:cNvPicPr>
            <a:picLocks noChangeAspect="1"/>
          </p:cNvPicPr>
          <p:nvPr/>
        </p:nvPicPr>
        <p:blipFill>
          <a:blip r:embed="rId4"/>
          <a:stretch>
            <a:fillRect/>
          </a:stretch>
        </p:blipFill>
        <p:spPr>
          <a:xfrm>
            <a:off x="5297448" y="283488"/>
            <a:ext cx="4035385" cy="2268260"/>
          </a:xfrm>
          <a:prstGeom prst="rect">
            <a:avLst/>
          </a:prstGeom>
        </p:spPr>
      </p:pic>
      <p:sp>
        <p:nvSpPr>
          <p:cNvPr id="6" name="Text 2"/>
          <p:cNvSpPr/>
          <p:nvPr/>
        </p:nvSpPr>
        <p:spPr>
          <a:xfrm>
            <a:off x="793790" y="3512463"/>
            <a:ext cx="11135439" cy="708779"/>
          </a:xfrm>
          <a:prstGeom prst="rect">
            <a:avLst/>
          </a:prstGeom>
          <a:noFill/>
          <a:ln/>
        </p:spPr>
        <p:txBody>
          <a:bodyPr wrap="none" lIns="0" tIns="0" rIns="0" bIns="0" rtlCol="0" anchor="t"/>
          <a:lstStyle/>
          <a:p>
            <a:pPr marL="0" indent="0">
              <a:lnSpc>
                <a:spcPts val="5550"/>
              </a:lnSpc>
              <a:buNone/>
            </a:pPr>
            <a:r>
              <a:rPr lang="en-US" sz="4450" dirty="0">
                <a:solidFill>
                  <a:srgbClr val="F3F3F2"/>
                </a:solidFill>
                <a:latin typeface="IBM Plex Sans" pitchFamily="34" charset="0"/>
                <a:ea typeface="IBM Plex Sans" pitchFamily="34" charset="-122"/>
                <a:cs typeface="IBM Plex Sans" pitchFamily="34" charset="-120"/>
              </a:rPr>
              <a:t>Estimating Food Portion Sizes from Images</a:t>
            </a:r>
            <a:endParaRPr lang="en-US" sz="4450" dirty="0"/>
          </a:p>
        </p:txBody>
      </p:sp>
      <p:sp>
        <p:nvSpPr>
          <p:cNvPr id="7" name="Text 3"/>
          <p:cNvSpPr/>
          <p:nvPr/>
        </p:nvSpPr>
        <p:spPr>
          <a:xfrm>
            <a:off x="793790" y="4561403"/>
            <a:ext cx="13042821" cy="725805"/>
          </a:xfrm>
          <a:prstGeom prst="rect">
            <a:avLst/>
          </a:prstGeom>
          <a:noFill/>
          <a:ln/>
        </p:spPr>
        <p:txBody>
          <a:bodyPr wrap="square" lIns="0" tIns="0" rIns="0" bIns="0" rtlCol="0" anchor="t"/>
          <a:lstStyle/>
          <a:p>
            <a:pPr marL="0" indent="0">
              <a:lnSpc>
                <a:spcPts val="2850"/>
              </a:lnSpc>
              <a:buNone/>
            </a:pPr>
            <a:r>
              <a:rPr lang="en-US" sz="1750" dirty="0">
                <a:solidFill>
                  <a:srgbClr val="D4D4D1"/>
                </a:solidFill>
                <a:latin typeface="Roboto" pitchFamily="34" charset="0"/>
                <a:ea typeface="Roboto" pitchFamily="34" charset="-122"/>
                <a:cs typeface="Roboto" pitchFamily="34" charset="-120"/>
              </a:rPr>
              <a:t>Object detection algorithms can be used to estimate the portion size of food items in images. The system can analyze the size and shape of food items relative to known objects in the image, such as plates or utensils.</a:t>
            </a:r>
            <a:endParaRPr lang="en-US" sz="1750" dirty="0"/>
          </a:p>
        </p:txBody>
      </p:sp>
      <p:pic>
        <p:nvPicPr>
          <p:cNvPr id="8" name="Image 2" descr="preencoded.png"/>
          <p:cNvPicPr>
            <a:picLocks noChangeAspect="1"/>
          </p:cNvPicPr>
          <p:nvPr/>
        </p:nvPicPr>
        <p:blipFill>
          <a:blip r:embed="rId5"/>
          <a:stretch>
            <a:fillRect/>
          </a:stretch>
        </p:blipFill>
        <p:spPr>
          <a:xfrm>
            <a:off x="793790" y="5542359"/>
            <a:ext cx="566976" cy="566976"/>
          </a:xfrm>
          <a:prstGeom prst="rect">
            <a:avLst/>
          </a:prstGeom>
        </p:spPr>
      </p:pic>
      <p:sp>
        <p:nvSpPr>
          <p:cNvPr id="9" name="Text 4"/>
          <p:cNvSpPr/>
          <p:nvPr/>
        </p:nvSpPr>
        <p:spPr>
          <a:xfrm>
            <a:off x="793790" y="633614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4D4D1"/>
                </a:solidFill>
                <a:latin typeface="IBM Plex Sans" pitchFamily="34" charset="0"/>
                <a:ea typeface="IBM Plex Sans" pitchFamily="34" charset="-122"/>
                <a:cs typeface="IBM Plex Sans" pitchFamily="34" charset="-120"/>
              </a:rPr>
              <a:t>Object Detection</a:t>
            </a:r>
            <a:endParaRPr lang="en-US" sz="2200" dirty="0"/>
          </a:p>
        </p:txBody>
      </p:sp>
      <p:sp>
        <p:nvSpPr>
          <p:cNvPr id="10" name="Text 5"/>
          <p:cNvSpPr/>
          <p:nvPr/>
        </p:nvSpPr>
        <p:spPr>
          <a:xfrm>
            <a:off x="793790" y="6826568"/>
            <a:ext cx="4120753" cy="725805"/>
          </a:xfrm>
          <a:prstGeom prst="rect">
            <a:avLst/>
          </a:prstGeom>
          <a:noFill/>
          <a:ln/>
        </p:spPr>
        <p:txBody>
          <a:bodyPr wrap="squar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Algorithms identify and locate objects in the image, including food items.</a:t>
            </a:r>
            <a:endParaRPr lang="en-US" sz="1750" dirty="0"/>
          </a:p>
        </p:txBody>
      </p:sp>
      <p:pic>
        <p:nvPicPr>
          <p:cNvPr id="11" name="Image 3" descr="preencoded.png"/>
          <p:cNvPicPr>
            <a:picLocks noChangeAspect="1"/>
          </p:cNvPicPr>
          <p:nvPr/>
        </p:nvPicPr>
        <p:blipFill>
          <a:blip r:embed="rId6"/>
          <a:stretch>
            <a:fillRect/>
          </a:stretch>
        </p:blipFill>
        <p:spPr>
          <a:xfrm>
            <a:off x="5254704" y="5542359"/>
            <a:ext cx="566976" cy="566976"/>
          </a:xfrm>
          <a:prstGeom prst="rect">
            <a:avLst/>
          </a:prstGeom>
        </p:spPr>
      </p:pic>
      <p:sp>
        <p:nvSpPr>
          <p:cNvPr id="12" name="Text 6"/>
          <p:cNvSpPr/>
          <p:nvPr/>
        </p:nvSpPr>
        <p:spPr>
          <a:xfrm>
            <a:off x="5254704" y="633614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4D4D1"/>
                </a:solidFill>
                <a:latin typeface="IBM Plex Sans" pitchFamily="34" charset="0"/>
                <a:ea typeface="IBM Plex Sans" pitchFamily="34" charset="-122"/>
                <a:cs typeface="IBM Plex Sans" pitchFamily="34" charset="-120"/>
              </a:rPr>
              <a:t>Size Estimation</a:t>
            </a:r>
            <a:endParaRPr lang="en-US" sz="2200" dirty="0"/>
          </a:p>
        </p:txBody>
      </p:sp>
      <p:sp>
        <p:nvSpPr>
          <p:cNvPr id="13" name="Text 7"/>
          <p:cNvSpPr/>
          <p:nvPr/>
        </p:nvSpPr>
        <p:spPr>
          <a:xfrm>
            <a:off x="5254704" y="6826568"/>
            <a:ext cx="4120872" cy="725805"/>
          </a:xfrm>
          <a:prstGeom prst="rect">
            <a:avLst/>
          </a:prstGeom>
          <a:noFill/>
          <a:ln/>
        </p:spPr>
        <p:txBody>
          <a:bodyPr wrap="squar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The system measures the dimensions of the food item based on its pixels.</a:t>
            </a:r>
            <a:endParaRPr lang="en-US" sz="1750" dirty="0"/>
          </a:p>
        </p:txBody>
      </p:sp>
      <p:pic>
        <p:nvPicPr>
          <p:cNvPr id="14" name="Image 4" descr="preencoded.png"/>
          <p:cNvPicPr>
            <a:picLocks noChangeAspect="1"/>
          </p:cNvPicPr>
          <p:nvPr/>
        </p:nvPicPr>
        <p:blipFill>
          <a:blip r:embed="rId7"/>
          <a:stretch>
            <a:fillRect/>
          </a:stretch>
        </p:blipFill>
        <p:spPr>
          <a:xfrm>
            <a:off x="9715738" y="5542359"/>
            <a:ext cx="566976" cy="566976"/>
          </a:xfrm>
          <a:prstGeom prst="rect">
            <a:avLst/>
          </a:prstGeom>
        </p:spPr>
      </p:pic>
      <p:sp>
        <p:nvSpPr>
          <p:cNvPr id="15" name="Text 8"/>
          <p:cNvSpPr/>
          <p:nvPr/>
        </p:nvSpPr>
        <p:spPr>
          <a:xfrm>
            <a:off x="9715738" y="633614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4D4D1"/>
                </a:solidFill>
                <a:latin typeface="IBM Plex Sans" pitchFamily="34" charset="0"/>
                <a:ea typeface="IBM Plex Sans" pitchFamily="34" charset="-122"/>
                <a:cs typeface="IBM Plex Sans" pitchFamily="34" charset="-120"/>
              </a:rPr>
              <a:t>Reference Objects</a:t>
            </a:r>
            <a:endParaRPr lang="en-US" sz="2200" dirty="0"/>
          </a:p>
        </p:txBody>
      </p:sp>
      <p:sp>
        <p:nvSpPr>
          <p:cNvPr id="16" name="Text 9"/>
          <p:cNvSpPr/>
          <p:nvPr/>
        </p:nvSpPr>
        <p:spPr>
          <a:xfrm>
            <a:off x="9715738" y="6826568"/>
            <a:ext cx="4120753" cy="725805"/>
          </a:xfrm>
          <a:prstGeom prst="rect">
            <a:avLst/>
          </a:prstGeom>
          <a:noFill/>
          <a:ln/>
        </p:spPr>
        <p:txBody>
          <a:bodyPr wrap="squar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Known objects, such as plates, provide context for size estimation.</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txBody>
          <a:bodyPr/>
          <a:lstStyle/>
          <a:p>
            <a:endParaRPr lang="en-IN"/>
          </a:p>
        </p:txBody>
      </p:sp>
      <p:sp>
        <p:nvSpPr>
          <p:cNvPr id="3" name="Shape 1"/>
          <p:cNvSpPr/>
          <p:nvPr/>
        </p:nvSpPr>
        <p:spPr>
          <a:xfrm>
            <a:off x="0" y="0"/>
            <a:ext cx="14630400" cy="8229600"/>
          </a:xfrm>
          <a:prstGeom prst="rect">
            <a:avLst/>
          </a:prstGeom>
          <a:solidFill>
            <a:srgbClr val="292C32"/>
          </a:solidFill>
          <a:ln/>
        </p:spPr>
        <p:txBody>
          <a:bodyPr/>
          <a:lstStyle/>
          <a:p>
            <a:endParaRPr lang="en-IN"/>
          </a:p>
        </p:txBody>
      </p:sp>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5" name="Image 1" descr="preencoded.png"/>
          <p:cNvPicPr>
            <a:picLocks noChangeAspect="1"/>
          </p:cNvPicPr>
          <p:nvPr/>
        </p:nvPicPr>
        <p:blipFill>
          <a:blip r:embed="rId4"/>
          <a:stretch>
            <a:fillRect/>
          </a:stretch>
        </p:blipFill>
        <p:spPr>
          <a:xfrm>
            <a:off x="9402961" y="899755"/>
            <a:ext cx="4968359" cy="6429970"/>
          </a:xfrm>
          <a:prstGeom prst="rect">
            <a:avLst/>
          </a:prstGeom>
        </p:spPr>
      </p:pic>
      <p:sp>
        <p:nvSpPr>
          <p:cNvPr id="6" name="Text 2"/>
          <p:cNvSpPr/>
          <p:nvPr/>
        </p:nvSpPr>
        <p:spPr>
          <a:xfrm>
            <a:off x="725329" y="571024"/>
            <a:ext cx="7693343" cy="1295400"/>
          </a:xfrm>
          <a:prstGeom prst="rect">
            <a:avLst/>
          </a:prstGeom>
          <a:noFill/>
          <a:ln/>
        </p:spPr>
        <p:txBody>
          <a:bodyPr wrap="square" lIns="0" tIns="0" rIns="0" bIns="0" rtlCol="0" anchor="t"/>
          <a:lstStyle/>
          <a:p>
            <a:pPr marL="0" indent="0">
              <a:lnSpc>
                <a:spcPts val="5050"/>
              </a:lnSpc>
              <a:buNone/>
            </a:pPr>
            <a:r>
              <a:rPr lang="en-US" sz="4050" dirty="0">
                <a:solidFill>
                  <a:srgbClr val="F3F3F2"/>
                </a:solidFill>
                <a:latin typeface="IBM Plex Sans" pitchFamily="34" charset="0"/>
                <a:ea typeface="IBM Plex Sans" pitchFamily="34" charset="-122"/>
                <a:cs typeface="IBM Plex Sans" pitchFamily="34" charset="-120"/>
              </a:rPr>
              <a:t>Analysis of the Nutrients Content in the Food</a:t>
            </a:r>
            <a:endParaRPr lang="en-US" sz="4050" dirty="0"/>
          </a:p>
        </p:txBody>
      </p:sp>
      <p:sp>
        <p:nvSpPr>
          <p:cNvPr id="7" name="Text 3"/>
          <p:cNvSpPr/>
          <p:nvPr/>
        </p:nvSpPr>
        <p:spPr>
          <a:xfrm>
            <a:off x="725329" y="2177296"/>
            <a:ext cx="7693343" cy="663178"/>
          </a:xfrm>
          <a:prstGeom prst="rect">
            <a:avLst/>
          </a:prstGeom>
          <a:noFill/>
          <a:ln/>
        </p:spPr>
        <p:txBody>
          <a:bodyPr wrap="square" lIns="0" tIns="0" rIns="0" bIns="0" rtlCol="0" anchor="t"/>
          <a:lstStyle/>
          <a:p>
            <a:pPr marL="0" indent="0">
              <a:lnSpc>
                <a:spcPts val="2600"/>
              </a:lnSpc>
              <a:buNone/>
            </a:pPr>
            <a:r>
              <a:rPr lang="en-US" sz="1600" dirty="0">
                <a:solidFill>
                  <a:srgbClr val="D4D4D1"/>
                </a:solidFill>
                <a:latin typeface="Roboto" pitchFamily="34" charset="0"/>
                <a:ea typeface="Roboto" pitchFamily="34" charset="-122"/>
                <a:cs typeface="Roboto" pitchFamily="34" charset="-120"/>
              </a:rPr>
              <a:t>Once the food type and portion size are identified, the system can analyze the nutrient content using pre-existing nutritional databases.</a:t>
            </a:r>
            <a:endParaRPr lang="en-US" sz="1600" dirty="0"/>
          </a:p>
        </p:txBody>
      </p:sp>
      <p:sp>
        <p:nvSpPr>
          <p:cNvPr id="8" name="Shape 4"/>
          <p:cNvSpPr/>
          <p:nvPr/>
        </p:nvSpPr>
        <p:spPr>
          <a:xfrm>
            <a:off x="725329" y="3073598"/>
            <a:ext cx="3743087" cy="2188845"/>
          </a:xfrm>
          <a:prstGeom prst="roundRect">
            <a:avLst>
              <a:gd name="adj" fmla="val 1420"/>
            </a:avLst>
          </a:prstGeom>
          <a:solidFill>
            <a:srgbClr val="484B51"/>
          </a:solidFill>
          <a:ln/>
        </p:spPr>
        <p:txBody>
          <a:bodyPr/>
          <a:lstStyle/>
          <a:p>
            <a:endParaRPr lang="en-IN"/>
          </a:p>
        </p:txBody>
      </p:sp>
      <p:sp>
        <p:nvSpPr>
          <p:cNvPr id="9" name="Text 5"/>
          <p:cNvSpPr/>
          <p:nvPr/>
        </p:nvSpPr>
        <p:spPr>
          <a:xfrm>
            <a:off x="932498" y="3280767"/>
            <a:ext cx="2590562" cy="323850"/>
          </a:xfrm>
          <a:prstGeom prst="rect">
            <a:avLst/>
          </a:prstGeom>
          <a:noFill/>
          <a:ln/>
        </p:spPr>
        <p:txBody>
          <a:bodyPr wrap="none" lIns="0" tIns="0" rIns="0" bIns="0" rtlCol="0" anchor="t"/>
          <a:lstStyle/>
          <a:p>
            <a:pPr marL="0" indent="0">
              <a:lnSpc>
                <a:spcPts val="2500"/>
              </a:lnSpc>
              <a:buNone/>
            </a:pPr>
            <a:r>
              <a:rPr lang="en-US" sz="2000" dirty="0">
                <a:solidFill>
                  <a:srgbClr val="D4D4D1"/>
                </a:solidFill>
                <a:latin typeface="IBM Plex Sans" pitchFamily="34" charset="0"/>
                <a:ea typeface="IBM Plex Sans" pitchFamily="34" charset="-122"/>
                <a:cs typeface="IBM Plex Sans" pitchFamily="34" charset="-120"/>
              </a:rPr>
              <a:t>Carbohydrates</a:t>
            </a:r>
            <a:endParaRPr lang="en-US" sz="2000" dirty="0"/>
          </a:p>
        </p:txBody>
      </p:sp>
      <p:sp>
        <p:nvSpPr>
          <p:cNvPr id="10" name="Text 6"/>
          <p:cNvSpPr/>
          <p:nvPr/>
        </p:nvSpPr>
        <p:spPr>
          <a:xfrm>
            <a:off x="932498" y="3728918"/>
            <a:ext cx="3328749" cy="994767"/>
          </a:xfrm>
          <a:prstGeom prst="rect">
            <a:avLst/>
          </a:prstGeom>
          <a:noFill/>
          <a:ln/>
        </p:spPr>
        <p:txBody>
          <a:bodyPr wrap="square" lIns="0" tIns="0" rIns="0" bIns="0" rtlCol="0" anchor="t"/>
          <a:lstStyle/>
          <a:p>
            <a:pPr marL="0" indent="0">
              <a:lnSpc>
                <a:spcPts val="2600"/>
              </a:lnSpc>
              <a:buNone/>
            </a:pPr>
            <a:r>
              <a:rPr lang="en-US" sz="1600" dirty="0">
                <a:solidFill>
                  <a:srgbClr val="D4D4D1"/>
                </a:solidFill>
                <a:latin typeface="Roboto" pitchFamily="34" charset="0"/>
                <a:ea typeface="Roboto" pitchFamily="34" charset="-122"/>
                <a:cs typeface="Roboto" pitchFamily="34" charset="-120"/>
              </a:rPr>
              <a:t>The system estimates the amount of carbohydrates based on the food type and portion size.</a:t>
            </a:r>
            <a:endParaRPr lang="en-US" sz="1600" dirty="0"/>
          </a:p>
        </p:txBody>
      </p:sp>
      <p:sp>
        <p:nvSpPr>
          <p:cNvPr id="11" name="Shape 7"/>
          <p:cNvSpPr/>
          <p:nvPr/>
        </p:nvSpPr>
        <p:spPr>
          <a:xfrm>
            <a:off x="4675584" y="3073598"/>
            <a:ext cx="3743087" cy="2188845"/>
          </a:xfrm>
          <a:prstGeom prst="roundRect">
            <a:avLst>
              <a:gd name="adj" fmla="val 1420"/>
            </a:avLst>
          </a:prstGeom>
          <a:solidFill>
            <a:srgbClr val="484B51"/>
          </a:solidFill>
          <a:ln/>
        </p:spPr>
        <p:txBody>
          <a:bodyPr/>
          <a:lstStyle/>
          <a:p>
            <a:endParaRPr lang="en-IN"/>
          </a:p>
        </p:txBody>
      </p:sp>
      <p:sp>
        <p:nvSpPr>
          <p:cNvPr id="12" name="Text 8"/>
          <p:cNvSpPr/>
          <p:nvPr/>
        </p:nvSpPr>
        <p:spPr>
          <a:xfrm>
            <a:off x="4882753" y="3280767"/>
            <a:ext cx="2590562" cy="323850"/>
          </a:xfrm>
          <a:prstGeom prst="rect">
            <a:avLst/>
          </a:prstGeom>
          <a:noFill/>
          <a:ln/>
        </p:spPr>
        <p:txBody>
          <a:bodyPr wrap="none" lIns="0" tIns="0" rIns="0" bIns="0" rtlCol="0" anchor="t"/>
          <a:lstStyle/>
          <a:p>
            <a:pPr marL="0" indent="0">
              <a:lnSpc>
                <a:spcPts val="2500"/>
              </a:lnSpc>
              <a:buNone/>
            </a:pPr>
            <a:r>
              <a:rPr lang="en-US" sz="2000" dirty="0">
                <a:solidFill>
                  <a:srgbClr val="D4D4D1"/>
                </a:solidFill>
                <a:latin typeface="IBM Plex Sans" pitchFamily="34" charset="0"/>
                <a:ea typeface="IBM Plex Sans" pitchFamily="34" charset="-122"/>
                <a:cs typeface="IBM Plex Sans" pitchFamily="34" charset="-120"/>
              </a:rPr>
              <a:t>Proteins</a:t>
            </a:r>
            <a:endParaRPr lang="en-US" sz="2000" dirty="0"/>
          </a:p>
        </p:txBody>
      </p:sp>
      <p:sp>
        <p:nvSpPr>
          <p:cNvPr id="13" name="Text 9"/>
          <p:cNvSpPr/>
          <p:nvPr/>
        </p:nvSpPr>
        <p:spPr>
          <a:xfrm>
            <a:off x="4882753" y="3728918"/>
            <a:ext cx="3328749" cy="1326356"/>
          </a:xfrm>
          <a:prstGeom prst="rect">
            <a:avLst/>
          </a:prstGeom>
          <a:noFill/>
          <a:ln/>
        </p:spPr>
        <p:txBody>
          <a:bodyPr wrap="square" lIns="0" tIns="0" rIns="0" bIns="0" rtlCol="0" anchor="t"/>
          <a:lstStyle/>
          <a:p>
            <a:pPr marL="0" indent="0">
              <a:lnSpc>
                <a:spcPts val="2600"/>
              </a:lnSpc>
              <a:buNone/>
            </a:pPr>
            <a:r>
              <a:rPr lang="en-US" sz="1600" dirty="0">
                <a:solidFill>
                  <a:srgbClr val="D4D4D1"/>
                </a:solidFill>
                <a:latin typeface="Roboto" pitchFamily="34" charset="0"/>
                <a:ea typeface="Roboto" pitchFamily="34" charset="-122"/>
                <a:cs typeface="Roboto" pitchFamily="34" charset="-120"/>
              </a:rPr>
              <a:t>The system calculates the protein content using a similar approach, considering the type and amount of food.</a:t>
            </a:r>
            <a:endParaRPr lang="en-US" sz="1600" dirty="0"/>
          </a:p>
        </p:txBody>
      </p:sp>
      <p:sp>
        <p:nvSpPr>
          <p:cNvPr id="14" name="Shape 10"/>
          <p:cNvSpPr/>
          <p:nvPr/>
        </p:nvSpPr>
        <p:spPr>
          <a:xfrm>
            <a:off x="725329" y="5469612"/>
            <a:ext cx="3743087" cy="2188845"/>
          </a:xfrm>
          <a:prstGeom prst="roundRect">
            <a:avLst>
              <a:gd name="adj" fmla="val 1420"/>
            </a:avLst>
          </a:prstGeom>
          <a:solidFill>
            <a:srgbClr val="484B51"/>
          </a:solidFill>
          <a:ln/>
        </p:spPr>
        <p:txBody>
          <a:bodyPr/>
          <a:lstStyle/>
          <a:p>
            <a:endParaRPr lang="en-IN"/>
          </a:p>
        </p:txBody>
      </p:sp>
      <p:sp>
        <p:nvSpPr>
          <p:cNvPr id="15" name="Text 11"/>
          <p:cNvSpPr/>
          <p:nvPr/>
        </p:nvSpPr>
        <p:spPr>
          <a:xfrm>
            <a:off x="932498" y="5676781"/>
            <a:ext cx="2590562" cy="323850"/>
          </a:xfrm>
          <a:prstGeom prst="rect">
            <a:avLst/>
          </a:prstGeom>
          <a:noFill/>
          <a:ln/>
        </p:spPr>
        <p:txBody>
          <a:bodyPr wrap="none" lIns="0" tIns="0" rIns="0" bIns="0" rtlCol="0" anchor="t"/>
          <a:lstStyle/>
          <a:p>
            <a:pPr marL="0" indent="0">
              <a:lnSpc>
                <a:spcPts val="2500"/>
              </a:lnSpc>
              <a:buNone/>
            </a:pPr>
            <a:r>
              <a:rPr lang="en-US" sz="2000" dirty="0">
                <a:solidFill>
                  <a:srgbClr val="D4D4D1"/>
                </a:solidFill>
                <a:latin typeface="IBM Plex Sans" pitchFamily="34" charset="0"/>
                <a:ea typeface="IBM Plex Sans" pitchFamily="34" charset="-122"/>
                <a:cs typeface="IBM Plex Sans" pitchFamily="34" charset="-120"/>
              </a:rPr>
              <a:t>Fat</a:t>
            </a:r>
            <a:endParaRPr lang="en-US" sz="2000" dirty="0"/>
          </a:p>
        </p:txBody>
      </p:sp>
      <p:sp>
        <p:nvSpPr>
          <p:cNvPr id="16" name="Text 12"/>
          <p:cNvSpPr/>
          <p:nvPr/>
        </p:nvSpPr>
        <p:spPr>
          <a:xfrm>
            <a:off x="932498" y="6124932"/>
            <a:ext cx="3328749" cy="994767"/>
          </a:xfrm>
          <a:prstGeom prst="rect">
            <a:avLst/>
          </a:prstGeom>
          <a:noFill/>
          <a:ln/>
        </p:spPr>
        <p:txBody>
          <a:bodyPr wrap="square" lIns="0" tIns="0" rIns="0" bIns="0" rtlCol="0" anchor="t"/>
          <a:lstStyle/>
          <a:p>
            <a:pPr marL="0" indent="0">
              <a:lnSpc>
                <a:spcPts val="2600"/>
              </a:lnSpc>
              <a:buNone/>
            </a:pPr>
            <a:r>
              <a:rPr lang="en-US" sz="1600" dirty="0">
                <a:solidFill>
                  <a:srgbClr val="D4D4D1"/>
                </a:solidFill>
                <a:latin typeface="Roboto" pitchFamily="34" charset="0"/>
                <a:ea typeface="Roboto" pitchFamily="34" charset="-122"/>
                <a:cs typeface="Roboto" pitchFamily="34" charset="-120"/>
              </a:rPr>
              <a:t>The system estimates the fat content of the food item, based on its composition and serving size.</a:t>
            </a:r>
            <a:endParaRPr lang="en-US" sz="1600" dirty="0"/>
          </a:p>
        </p:txBody>
      </p:sp>
      <p:sp>
        <p:nvSpPr>
          <p:cNvPr id="17" name="Shape 13"/>
          <p:cNvSpPr/>
          <p:nvPr/>
        </p:nvSpPr>
        <p:spPr>
          <a:xfrm>
            <a:off x="4675584" y="5469612"/>
            <a:ext cx="3743087" cy="2188845"/>
          </a:xfrm>
          <a:prstGeom prst="roundRect">
            <a:avLst>
              <a:gd name="adj" fmla="val 1420"/>
            </a:avLst>
          </a:prstGeom>
          <a:solidFill>
            <a:srgbClr val="484B51"/>
          </a:solidFill>
          <a:ln/>
        </p:spPr>
        <p:txBody>
          <a:bodyPr/>
          <a:lstStyle/>
          <a:p>
            <a:endParaRPr lang="en-IN"/>
          </a:p>
        </p:txBody>
      </p:sp>
      <p:sp>
        <p:nvSpPr>
          <p:cNvPr id="18" name="Text 14"/>
          <p:cNvSpPr/>
          <p:nvPr/>
        </p:nvSpPr>
        <p:spPr>
          <a:xfrm>
            <a:off x="4882753" y="5676781"/>
            <a:ext cx="2590562" cy="323850"/>
          </a:xfrm>
          <a:prstGeom prst="rect">
            <a:avLst/>
          </a:prstGeom>
          <a:noFill/>
          <a:ln/>
        </p:spPr>
        <p:txBody>
          <a:bodyPr wrap="none" lIns="0" tIns="0" rIns="0" bIns="0" rtlCol="0" anchor="t"/>
          <a:lstStyle/>
          <a:p>
            <a:pPr marL="0" indent="0">
              <a:lnSpc>
                <a:spcPts val="2500"/>
              </a:lnSpc>
              <a:buNone/>
            </a:pPr>
            <a:r>
              <a:rPr lang="en-US" sz="2000" dirty="0">
                <a:solidFill>
                  <a:srgbClr val="D4D4D1"/>
                </a:solidFill>
                <a:latin typeface="IBM Plex Sans" pitchFamily="34" charset="0"/>
                <a:ea typeface="IBM Plex Sans" pitchFamily="34" charset="-122"/>
                <a:cs typeface="IBM Plex Sans" pitchFamily="34" charset="-120"/>
              </a:rPr>
              <a:t>Sugar</a:t>
            </a:r>
            <a:endParaRPr lang="en-US" sz="2000" dirty="0"/>
          </a:p>
        </p:txBody>
      </p:sp>
      <p:sp>
        <p:nvSpPr>
          <p:cNvPr id="19" name="Text 15"/>
          <p:cNvSpPr/>
          <p:nvPr/>
        </p:nvSpPr>
        <p:spPr>
          <a:xfrm>
            <a:off x="4882753" y="6124932"/>
            <a:ext cx="3328749" cy="1326356"/>
          </a:xfrm>
          <a:prstGeom prst="rect">
            <a:avLst/>
          </a:prstGeom>
          <a:noFill/>
          <a:ln/>
        </p:spPr>
        <p:txBody>
          <a:bodyPr wrap="square" lIns="0" tIns="0" rIns="0" bIns="0" rtlCol="0" anchor="t"/>
          <a:lstStyle/>
          <a:p>
            <a:pPr marL="0" indent="0">
              <a:lnSpc>
                <a:spcPts val="2600"/>
              </a:lnSpc>
              <a:buNone/>
            </a:pPr>
            <a:r>
              <a:rPr lang="en-US" sz="1600" dirty="0">
                <a:solidFill>
                  <a:srgbClr val="D4D4D1"/>
                </a:solidFill>
                <a:latin typeface="Roboto" pitchFamily="34" charset="0"/>
                <a:ea typeface="Roboto" pitchFamily="34" charset="-122"/>
                <a:cs typeface="Roboto" pitchFamily="34" charset="-120"/>
              </a:rPr>
              <a:t>The system analyzes the sugar content of the food, taking into account the food type and serving size.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txBody>
          <a:bodyPr/>
          <a:lstStyle/>
          <a:p>
            <a:endParaRPr lang="en-IN"/>
          </a:p>
        </p:txBody>
      </p:sp>
      <p:sp>
        <p:nvSpPr>
          <p:cNvPr id="3" name="Shape 1"/>
          <p:cNvSpPr/>
          <p:nvPr/>
        </p:nvSpPr>
        <p:spPr>
          <a:xfrm>
            <a:off x="0" y="0"/>
            <a:ext cx="14630400" cy="8229600"/>
          </a:xfrm>
          <a:prstGeom prst="rect">
            <a:avLst/>
          </a:prstGeom>
          <a:solidFill>
            <a:srgbClr val="292C32"/>
          </a:solidFill>
          <a:ln/>
        </p:spPr>
        <p:txBody>
          <a:bodyPr/>
          <a:lstStyle/>
          <a:p>
            <a:endParaRPr lang="en-IN"/>
          </a:p>
        </p:txBody>
      </p:sp>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5" name="Image 1" descr="preencoded.png"/>
          <p:cNvPicPr>
            <a:picLocks noChangeAspect="1"/>
          </p:cNvPicPr>
          <p:nvPr/>
        </p:nvPicPr>
        <p:blipFill>
          <a:blip r:embed="rId4"/>
          <a:stretch>
            <a:fillRect/>
          </a:stretch>
        </p:blipFill>
        <p:spPr>
          <a:xfrm>
            <a:off x="9390936" y="2448520"/>
            <a:ext cx="4992410" cy="3332440"/>
          </a:xfrm>
          <a:prstGeom prst="rect">
            <a:avLst/>
          </a:prstGeom>
        </p:spPr>
      </p:pic>
      <p:sp>
        <p:nvSpPr>
          <p:cNvPr id="6" name="Text 2"/>
          <p:cNvSpPr/>
          <p:nvPr/>
        </p:nvSpPr>
        <p:spPr>
          <a:xfrm>
            <a:off x="691396" y="543520"/>
            <a:ext cx="7761208" cy="1234678"/>
          </a:xfrm>
          <a:prstGeom prst="rect">
            <a:avLst/>
          </a:prstGeom>
          <a:noFill/>
          <a:ln/>
        </p:spPr>
        <p:txBody>
          <a:bodyPr wrap="square" lIns="0" tIns="0" rIns="0" bIns="0" rtlCol="0" anchor="t"/>
          <a:lstStyle/>
          <a:p>
            <a:pPr marL="0" indent="0">
              <a:lnSpc>
                <a:spcPts val="4850"/>
              </a:lnSpc>
              <a:buNone/>
            </a:pPr>
            <a:r>
              <a:rPr lang="en-US" sz="3850" dirty="0">
                <a:solidFill>
                  <a:srgbClr val="F3F3F2"/>
                </a:solidFill>
                <a:latin typeface="IBM Plex Sans" pitchFamily="34" charset="0"/>
                <a:ea typeface="IBM Plex Sans" pitchFamily="34" charset="-122"/>
                <a:cs typeface="IBM Plex Sans" pitchFamily="34" charset="-120"/>
              </a:rPr>
              <a:t>Conclusion and Future Developments</a:t>
            </a:r>
            <a:endParaRPr lang="en-US" sz="3850" dirty="0"/>
          </a:p>
        </p:txBody>
      </p:sp>
      <p:sp>
        <p:nvSpPr>
          <p:cNvPr id="7" name="Text 3"/>
          <p:cNvSpPr/>
          <p:nvPr/>
        </p:nvSpPr>
        <p:spPr>
          <a:xfrm>
            <a:off x="691396" y="2074426"/>
            <a:ext cx="7761208" cy="631984"/>
          </a:xfrm>
          <a:prstGeom prst="rect">
            <a:avLst/>
          </a:prstGeom>
          <a:noFill/>
          <a:ln/>
        </p:spPr>
        <p:txBody>
          <a:bodyPr wrap="square" lIns="0" tIns="0" rIns="0" bIns="0" rtlCol="0" anchor="t"/>
          <a:lstStyle/>
          <a:p>
            <a:pPr marL="0" indent="0">
              <a:lnSpc>
                <a:spcPts val="2450"/>
              </a:lnSpc>
              <a:buNone/>
            </a:pPr>
            <a:r>
              <a:rPr lang="en-US" sz="1550" dirty="0">
                <a:solidFill>
                  <a:srgbClr val="D4D4D1"/>
                </a:solidFill>
                <a:latin typeface="Roboto" pitchFamily="34" charset="0"/>
                <a:ea typeface="Roboto" pitchFamily="34" charset="-122"/>
                <a:cs typeface="Roboto" pitchFamily="34" charset="-120"/>
              </a:rPr>
              <a:t>This camera-based food recognition system offers a convenient and accurate way for consumers to track their nutrition in real-time.</a:t>
            </a:r>
            <a:endParaRPr lang="en-US" sz="1550" dirty="0"/>
          </a:p>
        </p:txBody>
      </p:sp>
      <p:sp>
        <p:nvSpPr>
          <p:cNvPr id="8" name="Shape 4"/>
          <p:cNvSpPr/>
          <p:nvPr/>
        </p:nvSpPr>
        <p:spPr>
          <a:xfrm>
            <a:off x="976193" y="2928580"/>
            <a:ext cx="22860" cy="4757380"/>
          </a:xfrm>
          <a:prstGeom prst="roundRect">
            <a:avLst>
              <a:gd name="adj" fmla="val 129632"/>
            </a:avLst>
          </a:prstGeom>
          <a:solidFill>
            <a:srgbClr val="61646A"/>
          </a:solidFill>
          <a:ln/>
        </p:spPr>
        <p:txBody>
          <a:bodyPr/>
          <a:lstStyle/>
          <a:p>
            <a:endParaRPr lang="en-IN"/>
          </a:p>
        </p:txBody>
      </p:sp>
      <p:sp>
        <p:nvSpPr>
          <p:cNvPr id="9" name="Shape 5"/>
          <p:cNvSpPr/>
          <p:nvPr/>
        </p:nvSpPr>
        <p:spPr>
          <a:xfrm>
            <a:off x="1186994" y="3361492"/>
            <a:ext cx="691396" cy="22860"/>
          </a:xfrm>
          <a:prstGeom prst="roundRect">
            <a:avLst>
              <a:gd name="adj" fmla="val 129632"/>
            </a:avLst>
          </a:prstGeom>
          <a:solidFill>
            <a:srgbClr val="61646A"/>
          </a:solidFill>
          <a:ln/>
        </p:spPr>
        <p:txBody>
          <a:bodyPr/>
          <a:lstStyle/>
          <a:p>
            <a:endParaRPr lang="en-IN"/>
          </a:p>
        </p:txBody>
      </p:sp>
      <p:sp>
        <p:nvSpPr>
          <p:cNvPr id="10" name="Shape 6"/>
          <p:cNvSpPr/>
          <p:nvPr/>
        </p:nvSpPr>
        <p:spPr>
          <a:xfrm>
            <a:off x="765393" y="3150751"/>
            <a:ext cx="444460" cy="444460"/>
          </a:xfrm>
          <a:prstGeom prst="roundRect">
            <a:avLst>
              <a:gd name="adj" fmla="val 6667"/>
            </a:avLst>
          </a:prstGeom>
          <a:solidFill>
            <a:srgbClr val="484B51"/>
          </a:solidFill>
          <a:ln/>
        </p:spPr>
        <p:txBody>
          <a:bodyPr/>
          <a:lstStyle/>
          <a:p>
            <a:endParaRPr lang="en-IN"/>
          </a:p>
        </p:txBody>
      </p:sp>
      <p:sp>
        <p:nvSpPr>
          <p:cNvPr id="11" name="Text 7"/>
          <p:cNvSpPr/>
          <p:nvPr/>
        </p:nvSpPr>
        <p:spPr>
          <a:xfrm>
            <a:off x="898743" y="3224808"/>
            <a:ext cx="177760" cy="296347"/>
          </a:xfrm>
          <a:prstGeom prst="rect">
            <a:avLst/>
          </a:prstGeom>
          <a:noFill/>
          <a:ln/>
        </p:spPr>
        <p:txBody>
          <a:bodyPr wrap="none" lIns="0" tIns="0" rIns="0" bIns="0" rtlCol="0" anchor="t"/>
          <a:lstStyle/>
          <a:p>
            <a:pPr marL="0" indent="0" algn="ctr">
              <a:lnSpc>
                <a:spcPts val="2300"/>
              </a:lnSpc>
              <a:buNone/>
            </a:pPr>
            <a:r>
              <a:rPr lang="en-US" sz="2300" dirty="0">
                <a:solidFill>
                  <a:srgbClr val="D4D4D1"/>
                </a:solidFill>
                <a:latin typeface="IBM Plex Sans" pitchFamily="34" charset="0"/>
                <a:ea typeface="IBM Plex Sans" pitchFamily="34" charset="-122"/>
                <a:cs typeface="IBM Plex Sans" pitchFamily="34" charset="-120"/>
              </a:rPr>
              <a:t>1</a:t>
            </a:r>
            <a:endParaRPr lang="en-US" sz="2300" dirty="0"/>
          </a:p>
        </p:txBody>
      </p:sp>
      <p:sp>
        <p:nvSpPr>
          <p:cNvPr id="12" name="Text 8"/>
          <p:cNvSpPr/>
          <p:nvPr/>
        </p:nvSpPr>
        <p:spPr>
          <a:xfrm>
            <a:off x="2074188" y="3126105"/>
            <a:ext cx="2890480" cy="308610"/>
          </a:xfrm>
          <a:prstGeom prst="rect">
            <a:avLst/>
          </a:prstGeom>
          <a:noFill/>
          <a:ln/>
        </p:spPr>
        <p:txBody>
          <a:bodyPr wrap="none" lIns="0" tIns="0" rIns="0" bIns="0" rtlCol="0" anchor="t"/>
          <a:lstStyle/>
          <a:p>
            <a:pPr marL="0" indent="0" algn="l">
              <a:lnSpc>
                <a:spcPts val="2400"/>
              </a:lnSpc>
              <a:buNone/>
            </a:pPr>
            <a:r>
              <a:rPr lang="en-US" sz="1900" dirty="0">
                <a:solidFill>
                  <a:srgbClr val="D4D4D1"/>
                </a:solidFill>
                <a:latin typeface="IBM Plex Sans" pitchFamily="34" charset="0"/>
                <a:ea typeface="IBM Plex Sans" pitchFamily="34" charset="-122"/>
                <a:cs typeface="IBM Plex Sans" pitchFamily="34" charset="-120"/>
              </a:rPr>
              <a:t>Improved Image Analysis</a:t>
            </a:r>
            <a:endParaRPr lang="en-US" sz="1900" dirty="0"/>
          </a:p>
        </p:txBody>
      </p:sp>
      <p:sp>
        <p:nvSpPr>
          <p:cNvPr id="13" name="Text 9"/>
          <p:cNvSpPr/>
          <p:nvPr/>
        </p:nvSpPr>
        <p:spPr>
          <a:xfrm>
            <a:off x="2074188" y="3553182"/>
            <a:ext cx="6378416" cy="631984"/>
          </a:xfrm>
          <a:prstGeom prst="rect">
            <a:avLst/>
          </a:prstGeom>
          <a:noFill/>
          <a:ln/>
        </p:spPr>
        <p:txBody>
          <a:bodyPr wrap="square" lIns="0" tIns="0" rIns="0" bIns="0" rtlCol="0" anchor="t"/>
          <a:lstStyle/>
          <a:p>
            <a:pPr marL="0" indent="0" algn="l">
              <a:lnSpc>
                <a:spcPts val="2450"/>
              </a:lnSpc>
              <a:buNone/>
            </a:pPr>
            <a:r>
              <a:rPr lang="en-US" sz="1550" dirty="0">
                <a:solidFill>
                  <a:srgbClr val="D4D4D1"/>
                </a:solidFill>
                <a:latin typeface="Roboto" pitchFamily="34" charset="0"/>
                <a:ea typeface="Roboto" pitchFamily="34" charset="-122"/>
                <a:cs typeface="Roboto" pitchFamily="34" charset="-120"/>
              </a:rPr>
              <a:t>Enhancements to the image processing algorithms can improve the accuracy and efficiency of food recognition.</a:t>
            </a:r>
            <a:endParaRPr lang="en-US" sz="1550" dirty="0"/>
          </a:p>
        </p:txBody>
      </p:sp>
      <p:sp>
        <p:nvSpPr>
          <p:cNvPr id="14" name="Shape 10"/>
          <p:cNvSpPr/>
          <p:nvPr/>
        </p:nvSpPr>
        <p:spPr>
          <a:xfrm>
            <a:off x="1186994" y="5013127"/>
            <a:ext cx="691396" cy="22860"/>
          </a:xfrm>
          <a:prstGeom prst="roundRect">
            <a:avLst>
              <a:gd name="adj" fmla="val 129632"/>
            </a:avLst>
          </a:prstGeom>
          <a:solidFill>
            <a:srgbClr val="61646A"/>
          </a:solidFill>
          <a:ln/>
        </p:spPr>
        <p:txBody>
          <a:bodyPr/>
          <a:lstStyle/>
          <a:p>
            <a:endParaRPr lang="en-IN"/>
          </a:p>
        </p:txBody>
      </p:sp>
      <p:sp>
        <p:nvSpPr>
          <p:cNvPr id="15" name="Shape 11"/>
          <p:cNvSpPr/>
          <p:nvPr/>
        </p:nvSpPr>
        <p:spPr>
          <a:xfrm>
            <a:off x="765393" y="4802386"/>
            <a:ext cx="444460" cy="444460"/>
          </a:xfrm>
          <a:prstGeom prst="roundRect">
            <a:avLst>
              <a:gd name="adj" fmla="val 6667"/>
            </a:avLst>
          </a:prstGeom>
          <a:solidFill>
            <a:srgbClr val="484B51"/>
          </a:solidFill>
          <a:ln/>
        </p:spPr>
        <p:txBody>
          <a:bodyPr/>
          <a:lstStyle/>
          <a:p>
            <a:endParaRPr lang="en-IN"/>
          </a:p>
        </p:txBody>
      </p:sp>
      <p:sp>
        <p:nvSpPr>
          <p:cNvPr id="16" name="Text 12"/>
          <p:cNvSpPr/>
          <p:nvPr/>
        </p:nvSpPr>
        <p:spPr>
          <a:xfrm>
            <a:off x="898743" y="4876443"/>
            <a:ext cx="177760" cy="296347"/>
          </a:xfrm>
          <a:prstGeom prst="rect">
            <a:avLst/>
          </a:prstGeom>
          <a:noFill/>
          <a:ln/>
        </p:spPr>
        <p:txBody>
          <a:bodyPr wrap="none" lIns="0" tIns="0" rIns="0" bIns="0" rtlCol="0" anchor="t"/>
          <a:lstStyle/>
          <a:p>
            <a:pPr marL="0" indent="0" algn="ctr">
              <a:lnSpc>
                <a:spcPts val="2300"/>
              </a:lnSpc>
              <a:buNone/>
            </a:pPr>
            <a:r>
              <a:rPr lang="en-US" sz="2300" dirty="0">
                <a:solidFill>
                  <a:srgbClr val="D4D4D1"/>
                </a:solidFill>
                <a:latin typeface="IBM Plex Sans" pitchFamily="34" charset="0"/>
                <a:ea typeface="IBM Plex Sans" pitchFamily="34" charset="-122"/>
                <a:cs typeface="IBM Plex Sans" pitchFamily="34" charset="-120"/>
              </a:rPr>
              <a:t>2</a:t>
            </a:r>
            <a:endParaRPr lang="en-US" sz="2300" dirty="0"/>
          </a:p>
        </p:txBody>
      </p:sp>
      <p:sp>
        <p:nvSpPr>
          <p:cNvPr id="17" name="Text 13"/>
          <p:cNvSpPr/>
          <p:nvPr/>
        </p:nvSpPr>
        <p:spPr>
          <a:xfrm>
            <a:off x="2074188" y="4777740"/>
            <a:ext cx="3631406" cy="308610"/>
          </a:xfrm>
          <a:prstGeom prst="rect">
            <a:avLst/>
          </a:prstGeom>
          <a:noFill/>
          <a:ln/>
        </p:spPr>
        <p:txBody>
          <a:bodyPr wrap="none" lIns="0" tIns="0" rIns="0" bIns="0" rtlCol="0" anchor="t"/>
          <a:lstStyle/>
          <a:p>
            <a:pPr marL="0" indent="0" algn="l">
              <a:lnSpc>
                <a:spcPts val="2400"/>
              </a:lnSpc>
              <a:buNone/>
            </a:pPr>
            <a:r>
              <a:rPr lang="en-US" sz="1900" dirty="0">
                <a:solidFill>
                  <a:srgbClr val="D4D4D1"/>
                </a:solidFill>
                <a:latin typeface="IBM Plex Sans" pitchFamily="34" charset="0"/>
                <a:ea typeface="IBM Plex Sans" pitchFamily="34" charset="-122"/>
                <a:cs typeface="IBM Plex Sans" pitchFamily="34" charset="-120"/>
              </a:rPr>
              <a:t>Personalized Recommendations</a:t>
            </a:r>
            <a:endParaRPr lang="en-US" sz="1900" dirty="0"/>
          </a:p>
        </p:txBody>
      </p:sp>
      <p:sp>
        <p:nvSpPr>
          <p:cNvPr id="18" name="Text 14"/>
          <p:cNvSpPr/>
          <p:nvPr/>
        </p:nvSpPr>
        <p:spPr>
          <a:xfrm>
            <a:off x="2074188" y="5204817"/>
            <a:ext cx="6378416" cy="631984"/>
          </a:xfrm>
          <a:prstGeom prst="rect">
            <a:avLst/>
          </a:prstGeom>
          <a:noFill/>
          <a:ln/>
        </p:spPr>
        <p:txBody>
          <a:bodyPr wrap="square" lIns="0" tIns="0" rIns="0" bIns="0" rtlCol="0" anchor="t"/>
          <a:lstStyle/>
          <a:p>
            <a:pPr marL="0" indent="0" algn="l">
              <a:lnSpc>
                <a:spcPts val="2450"/>
              </a:lnSpc>
              <a:buNone/>
            </a:pPr>
            <a:r>
              <a:rPr lang="en-US" sz="1550" dirty="0">
                <a:solidFill>
                  <a:srgbClr val="D4D4D1"/>
                </a:solidFill>
                <a:latin typeface="Roboto" pitchFamily="34" charset="0"/>
                <a:ea typeface="Roboto" pitchFamily="34" charset="-122"/>
                <a:cs typeface="Roboto" pitchFamily="34" charset="-120"/>
              </a:rPr>
              <a:t>The system can be tailored to individual dietary needs and goals, providing customized advice.</a:t>
            </a:r>
            <a:endParaRPr lang="en-US" sz="1550" dirty="0"/>
          </a:p>
        </p:txBody>
      </p:sp>
      <p:sp>
        <p:nvSpPr>
          <p:cNvPr id="19" name="Shape 15"/>
          <p:cNvSpPr/>
          <p:nvPr/>
        </p:nvSpPr>
        <p:spPr>
          <a:xfrm>
            <a:off x="1186994" y="6664762"/>
            <a:ext cx="691396" cy="22860"/>
          </a:xfrm>
          <a:prstGeom prst="roundRect">
            <a:avLst>
              <a:gd name="adj" fmla="val 129632"/>
            </a:avLst>
          </a:prstGeom>
          <a:solidFill>
            <a:srgbClr val="61646A"/>
          </a:solidFill>
          <a:ln/>
        </p:spPr>
        <p:txBody>
          <a:bodyPr/>
          <a:lstStyle/>
          <a:p>
            <a:endParaRPr lang="en-IN"/>
          </a:p>
        </p:txBody>
      </p:sp>
      <p:sp>
        <p:nvSpPr>
          <p:cNvPr id="20" name="Shape 16"/>
          <p:cNvSpPr/>
          <p:nvPr/>
        </p:nvSpPr>
        <p:spPr>
          <a:xfrm>
            <a:off x="765393" y="6454021"/>
            <a:ext cx="444460" cy="444460"/>
          </a:xfrm>
          <a:prstGeom prst="roundRect">
            <a:avLst>
              <a:gd name="adj" fmla="val 6667"/>
            </a:avLst>
          </a:prstGeom>
          <a:solidFill>
            <a:srgbClr val="484B51"/>
          </a:solidFill>
          <a:ln/>
        </p:spPr>
        <p:txBody>
          <a:bodyPr/>
          <a:lstStyle/>
          <a:p>
            <a:endParaRPr lang="en-IN"/>
          </a:p>
        </p:txBody>
      </p:sp>
      <p:sp>
        <p:nvSpPr>
          <p:cNvPr id="21" name="Text 17"/>
          <p:cNvSpPr/>
          <p:nvPr/>
        </p:nvSpPr>
        <p:spPr>
          <a:xfrm>
            <a:off x="898743" y="6528078"/>
            <a:ext cx="177760" cy="296347"/>
          </a:xfrm>
          <a:prstGeom prst="rect">
            <a:avLst/>
          </a:prstGeom>
          <a:noFill/>
          <a:ln/>
        </p:spPr>
        <p:txBody>
          <a:bodyPr wrap="none" lIns="0" tIns="0" rIns="0" bIns="0" rtlCol="0" anchor="t"/>
          <a:lstStyle/>
          <a:p>
            <a:pPr marL="0" indent="0" algn="ctr">
              <a:lnSpc>
                <a:spcPts val="2300"/>
              </a:lnSpc>
              <a:buNone/>
            </a:pPr>
            <a:r>
              <a:rPr lang="en-US" sz="2300" dirty="0">
                <a:solidFill>
                  <a:srgbClr val="D4D4D1"/>
                </a:solidFill>
                <a:latin typeface="IBM Plex Sans" pitchFamily="34" charset="0"/>
                <a:ea typeface="IBM Plex Sans" pitchFamily="34" charset="-122"/>
                <a:cs typeface="IBM Plex Sans" pitchFamily="34" charset="-120"/>
              </a:rPr>
              <a:t>3</a:t>
            </a:r>
            <a:endParaRPr lang="en-US" sz="2300" dirty="0"/>
          </a:p>
        </p:txBody>
      </p:sp>
      <p:sp>
        <p:nvSpPr>
          <p:cNvPr id="22" name="Text 18"/>
          <p:cNvSpPr/>
          <p:nvPr/>
        </p:nvSpPr>
        <p:spPr>
          <a:xfrm>
            <a:off x="2074188" y="6429375"/>
            <a:ext cx="3269337" cy="308610"/>
          </a:xfrm>
          <a:prstGeom prst="rect">
            <a:avLst/>
          </a:prstGeom>
          <a:noFill/>
          <a:ln/>
        </p:spPr>
        <p:txBody>
          <a:bodyPr wrap="none" lIns="0" tIns="0" rIns="0" bIns="0" rtlCol="0" anchor="t"/>
          <a:lstStyle/>
          <a:p>
            <a:pPr marL="0" indent="0" algn="l">
              <a:lnSpc>
                <a:spcPts val="2400"/>
              </a:lnSpc>
              <a:buNone/>
            </a:pPr>
            <a:r>
              <a:rPr lang="en-US" sz="1900" dirty="0">
                <a:solidFill>
                  <a:srgbClr val="D4D4D1"/>
                </a:solidFill>
                <a:latin typeface="IBM Plex Sans" pitchFamily="34" charset="0"/>
                <a:ea typeface="IBM Plex Sans" pitchFamily="34" charset="-122"/>
                <a:cs typeface="IBM Plex Sans" pitchFamily="34" charset="-120"/>
              </a:rPr>
              <a:t>Integration with Health Apps</a:t>
            </a:r>
            <a:endParaRPr lang="en-US" sz="1900" dirty="0"/>
          </a:p>
        </p:txBody>
      </p:sp>
      <p:sp>
        <p:nvSpPr>
          <p:cNvPr id="23" name="Text 19"/>
          <p:cNvSpPr/>
          <p:nvPr/>
        </p:nvSpPr>
        <p:spPr>
          <a:xfrm>
            <a:off x="2074188" y="6856452"/>
            <a:ext cx="6378416" cy="631984"/>
          </a:xfrm>
          <a:prstGeom prst="rect">
            <a:avLst/>
          </a:prstGeom>
          <a:noFill/>
          <a:ln/>
        </p:spPr>
        <p:txBody>
          <a:bodyPr wrap="square" lIns="0" tIns="0" rIns="0" bIns="0" rtlCol="0" anchor="t"/>
          <a:lstStyle/>
          <a:p>
            <a:pPr marL="0" indent="0" algn="l">
              <a:lnSpc>
                <a:spcPts val="2450"/>
              </a:lnSpc>
              <a:buNone/>
            </a:pPr>
            <a:r>
              <a:rPr lang="en-US" sz="1550" dirty="0">
                <a:solidFill>
                  <a:srgbClr val="D4D4D1"/>
                </a:solidFill>
                <a:latin typeface="Roboto" pitchFamily="34" charset="0"/>
                <a:ea typeface="Roboto" pitchFamily="34" charset="-122"/>
                <a:cs typeface="Roboto" pitchFamily="34" charset="-120"/>
              </a:rPr>
              <a:t>Integration with existing health and fitness apps can provide a comprehensive view of dietary data.</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1048</TotalTime>
  <Words>705</Words>
  <Application>Microsoft Office PowerPoint</Application>
  <PresentationFormat>Custom</PresentationFormat>
  <Paragraphs>84</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IBM Plex Sans</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laksh betala</cp:lastModifiedBy>
  <cp:revision>2</cp:revision>
  <dcterms:created xsi:type="dcterms:W3CDTF">2024-08-29T10:07:25Z</dcterms:created>
  <dcterms:modified xsi:type="dcterms:W3CDTF">2024-08-30T03:36:50Z</dcterms:modified>
</cp:coreProperties>
</file>